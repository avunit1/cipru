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strument Serif"/>
      <p:regular r:id="rId20"/>
      <p:italic r:id="rId21"/>
    </p:embeddedFont>
    <p:embeddedFont>
      <p:font typeface="Plus Jakarta Sans"/>
      <p:regular r:id="rId22"/>
      <p:bold r:id="rId23"/>
      <p:italic r:id="rId24"/>
      <p:boldItalic r:id="rId25"/>
    </p:embeddedFont>
    <p:embeddedFont>
      <p:font typeface="JetBrains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03A578-A63C-481D-BDF7-A6B5D66C137C}">
  <a:tblStyle styleId="{2903A578-A63C-481D-BDF7-A6B5D66C137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strumentSerif-regular.fntdata"/><Relationship Id="rId22" Type="http://schemas.openxmlformats.org/officeDocument/2006/relationships/font" Target="fonts/PlusJakartaSans-regular.fntdata"/><Relationship Id="rId21" Type="http://schemas.openxmlformats.org/officeDocument/2006/relationships/font" Target="fonts/InstrumentSerif-italic.fntdata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regular.fntdata"/><Relationship Id="rId25" Type="http://schemas.openxmlformats.org/officeDocument/2006/relationships/font" Target="fonts/PlusJakartaSans-boldItalic.fntdata"/><Relationship Id="rId28" Type="http://schemas.openxmlformats.org/officeDocument/2006/relationships/font" Target="fonts/JetBrainsMono-italic.fntdata"/><Relationship Id="rId27" Type="http://schemas.openxmlformats.org/officeDocument/2006/relationships/font" Target="fonts/JetBrains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724400"/>
            <a:ext cx="609600" cy="28575"/>
          </a:xfrm>
          <a:prstGeom prst="rect">
            <a:avLst/>
          </a:prstGeom>
          <a:solidFill>
            <a:srgbClr val="B85D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2105025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35°00′N 33°00′E • EASTERN MEDITERRANEAN ATLAS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486025"/>
            <a:ext cx="11251406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0" u="none" cap="none" strike="noStrike">
                <a:solidFill>
                  <a:srgbClr val="F9F8F5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Cyprus: The Copper Island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543300"/>
            <a:ext cx="6953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8A2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geography, relief architecture, premier coastal destinations, and 11,000 years of civilization synthesized from five geographic resources.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85800" y="1962150"/>
            <a:ext cx="108204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85800" y="4772025"/>
            <a:ext cx="10820400" cy="9525"/>
          </a:xfrm>
          <a:prstGeom prst="rect">
            <a:avLst/>
          </a:prstGeom>
          <a:solidFill>
            <a:srgbClr val="D6D3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85800" y="1962150"/>
            <a:ext cx="10820400" cy="9525"/>
          </a:xfrm>
          <a:prstGeom prst="rect">
            <a:avLst/>
          </a:prstGeom>
          <a:solidFill>
            <a:srgbClr val="D6D3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GEOGRAPHIC DOSSIER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Cyprus in Numbers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85800" y="5314950"/>
            <a:ext cx="9429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Etymology of Copper (aes Cyprium → Cuprum):</a:t>
            </a:r>
            <a:r>
              <a:rPr b="0" i="0" lang="en-US" sz="1500" u="none" cap="none" strike="noStrik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Attested in 15th-century BC Linear B script as </a:t>
            </a:r>
            <a:r>
              <a:rPr b="0" i="1" lang="en-US" sz="1500" u="none" cap="none" strike="noStrik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ku-pi-ri-jo</a:t>
            </a:r>
            <a:r>
              <a:rPr b="0" i="0" lang="en-US" sz="1500" u="none" cap="none" strike="noStrik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from ancient Troodos copper ore deposits.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85800" y="2390775"/>
            <a:ext cx="257175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112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9,251 km²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85800" y="391477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Third-largest Mediterranean island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467100" y="2390775"/>
            <a:ext cx="30956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1,952 m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467100" y="320992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Mount Olympus peak elevation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248400" y="2390775"/>
            <a:ext cx="30956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112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648 km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248400" y="320992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Mediterranean coastline length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029700" y="2390775"/>
            <a:ext cx="30956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2B4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107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029700" y="3209925"/>
            <a:ext cx="3095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Water dams across Cyprus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685800" y="2095500"/>
            <a:ext cx="5888235" cy="3609975"/>
          </a:xfrm>
          <a:prstGeom prst="roundRect">
            <a:avLst>
              <a:gd fmla="val 4221" name="adj"/>
            </a:avLst>
          </a:prstGeom>
          <a:solidFill>
            <a:srgbClr val="F1EF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990600" y="5067300"/>
            <a:ext cx="52786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990600" y="5067300"/>
            <a:ext cx="5278635" cy="9525"/>
          </a:xfrm>
          <a:prstGeom prst="rect">
            <a:avLst/>
          </a:prstGeom>
          <a:solidFill>
            <a:srgbClr val="D6D3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400300"/>
            <a:ext cx="527863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CARTOGRAPHY &amp; GEOPOLITICS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Tri-Continental Crossroads &amp; Administrative Zones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90600" y="5229225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3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70 km S of Turkey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2982217" y="5229225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3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 km W of Syria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973835" y="5229225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3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500 km N of Egypt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107435" y="2605087"/>
            <a:ext cx="449401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85D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Republic of Cyprus (59%):</a:t>
            </a:r>
            <a:r>
              <a:rPr b="0" i="0" lang="en-US" sz="1500" u="none" cap="none" strike="noStrik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Southern EU member state since May 2004.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107435" y="3309937"/>
            <a:ext cx="449401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B47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Northern Sector (36%):</a:t>
            </a:r>
            <a:r>
              <a:rPr b="0" i="0" lang="en-US" sz="1500" u="none" cap="none" strike="noStrik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Covers 3,355 km² following 1974 division.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107435" y="4014787"/>
            <a:ext cx="449401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665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Buffer Zone:</a:t>
            </a:r>
            <a:r>
              <a:rPr b="0" i="0" lang="en-US" sz="1500" u="none" cap="none" strike="noStrik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Neutral Green Line crossing capital Nicosia.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107435" y="4719637"/>
            <a:ext cx="449401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UK Sovereign Bases (5%):</a:t>
            </a:r>
            <a:r>
              <a:rPr b="0" i="0" lang="en-US" sz="1500" u="none" cap="none" strike="noStrik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Akrotiri (47.4 km border) and Dhekelia enclaves.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PHYSICAL GEOGRAPHY &amp; RELIEF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North–South Elevation Cross-Section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p17"/>
          <p:cNvGraphicFramePr/>
          <p:nvPr/>
        </p:nvGraphicFramePr>
        <p:xfrm>
          <a:off x="685800" y="17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{2903A578-A63C-481D-BDF7-A6B5D66C137C}</a:tableStyleId>
              </a:tblPr>
              <a:tblGrid>
                <a:gridCol w="1643950"/>
                <a:gridCol w="2765525"/>
                <a:gridCol w="3033275"/>
                <a:gridCol w="3377650"/>
              </a:tblGrid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121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District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121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Geographic Position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121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Key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121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Signature Landmark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85D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Nicosia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Central Mesaoria Plain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Divided National Capital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Venetian Walls &amp; Pedieos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85D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Limassol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Southern Coast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Largest Maritime 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Molos Palm Promenade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85D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Larnaca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Southeastern Coast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Airport Gateway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Flamingo Salt Lake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85D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Paphos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Southwestern Coast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UNESCO Cultural Hub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Petra tou Romiou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85D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Famagusta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Eastern Coast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Premier Beach Resorts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Ayia Napa &amp; Salamis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85D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Kyrenia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Northern Coast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Historic Northern Harbor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0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Pentadaktylos &amp; Shipwreck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1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SUBDIVISIONS &amp; WATER RESOURCES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6 Administrative Districts &amp; Hydrography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85800" y="5534025"/>
            <a:ext cx="10915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Hydrography Note:</a:t>
            </a: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Pedieos (98 km) and Yialias (~100 km) are the only regular winter rivers; 107 dams and desalination plants combat chronic drought.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FE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762000" y="4867275"/>
            <a:ext cx="533400" cy="28575"/>
          </a:xfrm>
          <a:prstGeom prst="rect">
            <a:avLst/>
          </a:prstGeom>
          <a:solidFill>
            <a:srgbClr val="111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762000" y="1962150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02 • CESTEE &amp; DERTOUR SYNTHESIS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62000" y="2305050"/>
            <a:ext cx="8301037" cy="2257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00" u="none" cap="none" strike="noStrike">
                <a:solidFill>
                  <a:srgbClr val="11121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Tourism Destinations, Coastal Resorts &amp; Major Cities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5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/>
        </p:nvSpPr>
        <p:spPr>
          <a:xfrm>
            <a:off x="685800" y="3005137"/>
            <a:ext cx="2533650" cy="1752600"/>
          </a:xfrm>
          <a:prstGeom prst="roundRect">
            <a:avLst>
              <a:gd fmla="val 8695" name="adj"/>
            </a:avLst>
          </a:prstGeom>
          <a:solidFill>
            <a:srgbClr val="FFFFFF"/>
          </a:solidFill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3448050" y="3005137"/>
            <a:ext cx="2533650" cy="1752600"/>
          </a:xfrm>
          <a:prstGeom prst="roundRect">
            <a:avLst>
              <a:gd fmla="val 8695" name="adj"/>
            </a:avLst>
          </a:prstGeom>
          <a:solidFill>
            <a:srgbClr val="FFFFFF"/>
          </a:solidFill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6210300" y="3005137"/>
            <a:ext cx="2533650" cy="1752600"/>
          </a:xfrm>
          <a:prstGeom prst="roundRect">
            <a:avLst>
              <a:gd fmla="val 8695" name="adj"/>
            </a:avLst>
          </a:prstGeom>
          <a:solidFill>
            <a:srgbClr val="FFFFFF"/>
          </a:solidFill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8972550" y="3005137"/>
            <a:ext cx="2533650" cy="1752600"/>
          </a:xfrm>
          <a:prstGeom prst="roundRect">
            <a:avLst>
              <a:gd fmla="val 8695" name="adj"/>
            </a:avLst>
          </a:prstGeom>
          <a:solidFill>
            <a:srgbClr val="FFFFFF"/>
          </a:solidFill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URBAN CENTERS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Four Principal Cities of Cyprus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23925" y="3319462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CAPITAL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923925" y="3605212"/>
            <a:ext cx="27003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Nicosia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923925" y="4005262"/>
            <a:ext cx="2152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Inland divided financial capital.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3686175" y="3319462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MARITIME HUB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3686175" y="3605212"/>
            <a:ext cx="27003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Limassol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3686175" y="4005262"/>
            <a:ext cx="2152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Largest port hosting February Carnival.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448425" y="3319462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AIR GATEWAY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448425" y="3605212"/>
            <a:ext cx="27003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Larnaca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448425" y="4005262"/>
            <a:ext cx="2152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 airport near flamingo lake.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210675" y="3319462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UNESCO CITY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210675" y="3605212"/>
            <a:ext cx="27003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Paphos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210675" y="4005262"/>
            <a:ext cx="2152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Ancient Greco-Roman mosaic park.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14487"/>
            <a:ext cx="6045249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614487"/>
            <a:ext cx="6045249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COASTLINE &amp; NATIONAL PARKS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Petra tou Romiou, Eastern Resorts &amp; Wilderness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7188249" y="2528887"/>
            <a:ext cx="5003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Petra tou Romiou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7188249" y="2852737"/>
            <a:ext cx="4413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Legendary sea-foam birthplace of Greek goddess Aphrodite near Paphos.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7188249" y="3519487"/>
            <a:ext cx="5003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Ayia Napa &amp; Protaras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7188249" y="3843337"/>
            <a:ext cx="4413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Eastern turquoise beach resorts with golden sand and sea caves.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188249" y="4510087"/>
            <a:ext cx="5003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Akamas National Park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188249" y="4833937"/>
            <a:ext cx="4413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Western peninsula featuring dramatic limestone cliffs and hiking trails.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685800" y="3071812"/>
            <a:ext cx="2533650" cy="1619250"/>
          </a:xfrm>
          <a:prstGeom prst="roundRect">
            <a:avLst>
              <a:gd fmla="val 9411" name="adj"/>
            </a:avLst>
          </a:prstGeom>
          <a:solidFill>
            <a:srgbClr val="FFFFFF"/>
          </a:solidFill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3448050" y="3071812"/>
            <a:ext cx="2533650" cy="1619250"/>
          </a:xfrm>
          <a:prstGeom prst="roundRect">
            <a:avLst>
              <a:gd fmla="val 9411" name="adj"/>
            </a:avLst>
          </a:prstGeom>
          <a:solidFill>
            <a:srgbClr val="FFFFFF"/>
          </a:solidFill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6210300" y="3071812"/>
            <a:ext cx="2533650" cy="1619250"/>
          </a:xfrm>
          <a:prstGeom prst="roundRect">
            <a:avLst>
              <a:gd fmla="val 9411" name="adj"/>
            </a:avLst>
          </a:prstGeom>
          <a:solidFill>
            <a:srgbClr val="FFFFFF"/>
          </a:solidFill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8972550" y="3071812"/>
            <a:ext cx="2533650" cy="1619250"/>
          </a:xfrm>
          <a:prstGeom prst="roundRect">
            <a:avLst>
              <a:gd fmla="val 9411" name="adj"/>
            </a:avLst>
          </a:prstGeom>
          <a:solidFill>
            <a:srgbClr val="FFFFFF"/>
          </a:solidFill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ARCHAEOLOGICAL TIMELINE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11,000 Years of Iconic Landmarks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923925" y="3348037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10,000 BC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923925" y="3633787"/>
            <a:ext cx="27003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Aetokremnos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923925" y="3976687"/>
            <a:ext cx="2152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Pygmy hippo extinction site.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3686175" y="3348037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6800 BC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3686175" y="3633787"/>
            <a:ext cx="27003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Khirokitia UNESCO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3686175" y="3976687"/>
            <a:ext cx="2152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Neolithic round-house village.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448425" y="3348037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1725 BC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448425" y="3633787"/>
            <a:ext cx="27003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Alashiya &amp; Nitovikla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448425" y="3976687"/>
            <a:ext cx="2152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Bronze Age copper trade fortress.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9210675" y="3348037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 AD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9210675" y="3633787"/>
            <a:ext cx="27003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Church of Cyprus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9210675" y="3976687"/>
            <a:ext cx="2152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Apostolic church founded by Paul.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/>
          <p:nvPr/>
        </p:nvSpPr>
        <p:spPr>
          <a:xfrm>
            <a:off x="685800" y="2976562"/>
            <a:ext cx="2533650" cy="1809750"/>
          </a:xfrm>
          <a:prstGeom prst="roundRect">
            <a:avLst>
              <a:gd fmla="val 8421" name="adj"/>
            </a:avLst>
          </a:prstGeom>
          <a:solidFill>
            <a:srgbClr val="F9F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448050" y="2843212"/>
            <a:ext cx="2533650" cy="2076450"/>
          </a:xfrm>
          <a:prstGeom prst="roundRect">
            <a:avLst>
              <a:gd fmla="val 7339" name="adj"/>
            </a:avLst>
          </a:prstGeom>
          <a:solidFill>
            <a:srgbClr val="F9F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6210300" y="3086100"/>
            <a:ext cx="2533650" cy="1590675"/>
          </a:xfrm>
          <a:prstGeom prst="roundRect">
            <a:avLst>
              <a:gd fmla="val 9580" name="adj"/>
            </a:avLst>
          </a:prstGeom>
          <a:solidFill>
            <a:srgbClr val="F9F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8972550" y="2976562"/>
            <a:ext cx="2533650" cy="1809750"/>
          </a:xfrm>
          <a:prstGeom prst="roundRect">
            <a:avLst>
              <a:gd fmla="val 8421" name="adj"/>
            </a:avLst>
          </a:prstGeom>
          <a:solidFill>
            <a:srgbClr val="F9F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2813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6650" y="314801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1150" y="328136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NUMISMATICS &amp; IDENTITY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Euro Coin Symbols &amp; Religious Heritage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14400" y="3700462"/>
            <a:ext cx="27253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1c–5c: Mouflon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914400" y="4043362"/>
            <a:ext cx="2171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Endangered wild Troodos sheep.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3676650" y="3567112"/>
            <a:ext cx="228028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10c–50c: Kyrenia Ship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3676650" y="4176712"/>
            <a:ext cx="2171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Ancient Greek merchant vessel.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438900" y="3590925"/>
            <a:ext cx="27253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€1 &amp; €2: Pomos Idol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438900" y="3933825"/>
            <a:ext cx="2171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Chalcolithic fertility cross statue.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9201150" y="3700462"/>
            <a:ext cx="27253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Metropolises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9201150" y="4043362"/>
            <a:ext cx="2171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Orthodox South; secular Muslim North.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5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/>
          <p:nvPr/>
        </p:nvSpPr>
        <p:spPr>
          <a:xfrm>
            <a:off x="685800" y="2381250"/>
            <a:ext cx="5311378" cy="3000375"/>
          </a:xfrm>
          <a:prstGeom prst="roundRect">
            <a:avLst>
              <a:gd fmla="val 5079" name="adj"/>
            </a:avLst>
          </a:prstGeom>
          <a:solidFill>
            <a:srgbClr val="FFFFFF"/>
          </a:solidFill>
          <a:ln cap="flat" cmpd="sng" w="9525">
            <a:solidFill>
              <a:srgbClr val="E5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ECONOMY, CLIMATE &amp; INFRASTRUCTURE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Economy, Maritime Fleet &amp; Climate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114425" y="2809875"/>
            <a:ext cx="5567660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75.6%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114425" y="4171950"/>
            <a:ext cx="55676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Services Share of GDP (HDI 0.913)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114425" y="4514850"/>
            <a:ext cx="454937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Joined Eurozone on January 1, 2008 alongside expanding offshore natural gas reserves.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606778" y="2586037"/>
            <a:ext cx="499467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Maritime Fleet:</a:t>
            </a:r>
            <a:r>
              <a:rPr b="0" i="0" lang="en-US" sz="1500" u="none" cap="none" strike="noStrik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1,414 commercial vessels across six ports.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606778" y="3290887"/>
            <a:ext cx="499467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Road Network:</a:t>
            </a:r>
            <a:r>
              <a:rPr b="0" i="0" lang="en-US" sz="1500" u="none" cap="none" strike="noStrik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19,525 km left-hand traffic; zero active railways.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606778" y="3995737"/>
            <a:ext cx="499467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Seasonal Contrasts:</a:t>
            </a:r>
            <a:r>
              <a:rPr b="0" i="0" lang="en-US" sz="1500" u="none" cap="none" strike="noStrik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2°C winter Troodos snow; 34°C dry summers.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606778" y="4700587"/>
            <a:ext cx="499467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Natural Resources:</a:t>
            </a:r>
            <a:r>
              <a:rPr b="0" i="0" lang="en-US" sz="1500" u="none" cap="none" strike="noStrik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Copper, pyrite, marble, gypsum, olives, citrus.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21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/>
          <p:nvPr/>
        </p:nvSpPr>
        <p:spPr>
          <a:xfrm>
            <a:off x="5829300" y="4457700"/>
            <a:ext cx="533400" cy="28575"/>
          </a:xfrm>
          <a:prstGeom prst="rect">
            <a:avLst/>
          </a:prstGeom>
          <a:solidFill>
            <a:srgbClr val="B85D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4667250" y="2371725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85D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KÝPROS • 35°00′N 33°00′E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1986720" y="2695575"/>
            <a:ext cx="821840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00" u="none" cap="none" strike="noStrike">
                <a:solidFill>
                  <a:srgbClr val="F9F8F5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Thank You &amp; Questions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2047875" y="3638550"/>
            <a:ext cx="8096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8A2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Synthesized from Wikipedia RO (Geografia Ciprului &amp; Cipru), Cestee.ro, GlobalInfo.ro, and DERTOUR.ro.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E5E4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https://www.leonardo-hotels-cyprus.com/images/photos/photoGalleries/cityGuides/paphos/beaches/petraTouRomiou/petraTouRomiou_04.jpg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666875" y="1238250"/>
            <a:ext cx="390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www.leonardo-hotels-cyprus.com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