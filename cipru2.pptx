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Cabin"/>
      <p:regular r:id="rId201314"/>
    </p:embeddedFont>
    <p:embeddedFont>
      <p:font typeface="Cabin Bold"/>
      <p:regular r:id="rId201315"/>
    </p:embeddedFont>
    <p:embeddedFont>
      <p:font typeface="Unbounded"/>
      <p:regular r:id="rId201316"/>
    </p:embeddedFont>
    <p:embeddedFont>
      <p:font typeface="Unbounded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112836"/>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jpe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jpe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69971" y="1817951"/>
            <a:ext cx="6223638" cy="2346722"/>
          </a:xfrm>
          <a:prstGeom prst="rect">
            <a:avLst/>
          </a:prstGeom>
          <a:noFill/>
          <a:ln/>
        </p:spPr>
        <p:txBody>
          <a:bodyPr wrap="square" lIns="0" tIns="0" rIns="0" bIns="0" rtlCol="0" anchor="t">
            <a:normAutofit/>
          </a:bodyPr>
          <a:lstStyle/>
          <a:p>
            <a:pPr algn="l" indent="0" marL="0">
              <a:lnSpc>
                <a:spcPct val="104000"/>
              </a:lnSpc>
              <a:buNone/>
            </a:pPr>
            <a:r>
              <a:rPr lang="en-US" sz="3650" dirty="0">
                <a:solidFill>
                  <a:srgbClr val="FFFFFF"/>
                </a:solidFill>
                <a:latin typeface="Unbounded" pitchFamily="34" charset="0"/>
                <a:ea typeface="Unbounded" pitchFamily="34" charset="-122"/>
                <a:cs typeface="Unbounded" pitchFamily="34" charset="-120"/>
              </a:rPr>
              <a:t>Cyprus Geography: Landforms, Water, Climate, and a Living Divide</a:t>
            </a:r>
            <a:endParaRPr lang="en-US" sz="3650" dirty="0"/>
          </a:p>
        </p:txBody>
      </p:sp>
      <p:sp>
        <p:nvSpPr>
          <p:cNvPr id="4" name="Text 1"/>
          <p:cNvSpPr/>
          <p:nvPr/>
        </p:nvSpPr>
        <p:spPr>
          <a:xfrm>
            <a:off x="5269971" y="4432697"/>
            <a:ext cx="6223638" cy="638373"/>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CAD6DE"/>
                </a:solidFill>
                <a:latin typeface="Cabin" pitchFamily="34" charset="0"/>
                <a:ea typeface="Cabin" pitchFamily="34" charset="-122"/>
                <a:cs typeface="Cabin" pitchFamily="34" charset="-120"/>
              </a:rPr>
              <a:t>Concise visual guide to the island’s physical form, water systems, climate patterns, vegetation, and how these shape human geography today.</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69971" y="1526513"/>
            <a:ext cx="6223638" cy="938808"/>
          </a:xfrm>
          <a:prstGeom prst="rect">
            <a:avLst/>
          </a:prstGeom>
          <a:noFill/>
          <a:ln/>
        </p:spPr>
        <p:txBody>
          <a:bodyPr wrap="square" lIns="0" tIns="0" rIns="0" bIns="0" rtlCol="0" anchor="t">
            <a:normAutofit/>
          </a:bodyPr>
          <a:lstStyle/>
          <a:p>
            <a:pPr algn="l" indent="0" marL="0">
              <a:lnSpc>
                <a:spcPct val="104000"/>
              </a:lnSpc>
              <a:buNone/>
            </a:pPr>
            <a:r>
              <a:rPr lang="en-US" sz="2950" dirty="0">
                <a:solidFill>
                  <a:srgbClr val="FFFFFF"/>
                </a:solidFill>
                <a:latin typeface="Unbounded" pitchFamily="34" charset="0"/>
                <a:ea typeface="Unbounded" pitchFamily="34" charset="-122"/>
                <a:cs typeface="Unbounded" pitchFamily="34" charset="-120"/>
              </a:rPr>
              <a:t>A Crossroads Island in the Eastern Mediterranean</a:t>
            </a:r>
            <a:endParaRPr lang="en-US" sz="2950" dirty="0"/>
          </a:p>
        </p:txBody>
      </p:sp>
      <p:sp>
        <p:nvSpPr>
          <p:cNvPr id="4" name="Text 1"/>
          <p:cNvSpPr/>
          <p:nvPr/>
        </p:nvSpPr>
        <p:spPr>
          <a:xfrm>
            <a:off x="5269971" y="2738934"/>
            <a:ext cx="6223638" cy="1276747"/>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CAD6DE"/>
                </a:solidFill>
                <a:latin typeface="Cabin" pitchFamily="34" charset="0"/>
                <a:ea typeface="Cabin" pitchFamily="34" charset="-122"/>
                <a:cs typeface="Cabin" pitchFamily="34" charset="-120"/>
              </a:rPr>
              <a:t>Cyprus sits in the Eastern Basin of the Mediterranean Sea and is the third-largest Mediterranean island (after Sicily and Sardinia). Its position at the junction of Europe, Asia, and Africa made it a historical crossroads—an "end of the Silk Road" island shaped by shifting routes and empires.</a:t>
            </a:r>
            <a:endParaRPr lang="en-US" sz="1550" dirty="0"/>
          </a:p>
        </p:txBody>
      </p:sp>
      <p:sp>
        <p:nvSpPr>
          <p:cNvPr id="5" name="Shape 2"/>
          <p:cNvSpPr/>
          <p:nvPr/>
        </p:nvSpPr>
        <p:spPr>
          <a:xfrm>
            <a:off x="5269971" y="4240014"/>
            <a:ext cx="6223638" cy="1116905"/>
          </a:xfrm>
          <a:prstGeom prst="roundRect">
            <a:avLst>
              <a:gd name="adj" fmla="val 2679"/>
            </a:avLst>
          </a:prstGeom>
          <a:solidFill>
            <a:srgbClr val="08786D"/>
          </a:solidFill>
          <a:ln/>
        </p:spPr>
      </p:sp>
      <p:pic>
        <p:nvPicPr>
          <p:cNvPr id="6" name="Image 1" descr="preencoded.png">    </p:cNvPr>
          <p:cNvPicPr>
            <a:picLocks noChangeAspect="1"/>
          </p:cNvPicPr>
          <p:nvPr/>
        </p:nvPicPr>
        <p:blipFill>
          <a:blip r:embed="rId2"/>
          <a:stretch>
            <a:fillRect/>
          </a:stretch>
        </p:blipFill>
        <p:spPr>
          <a:xfrm>
            <a:off x="5469396" y="4530626"/>
            <a:ext cx="249330" cy="199430"/>
          </a:xfrm>
          <a:prstGeom prst="rect">
            <a:avLst/>
          </a:prstGeom>
        </p:spPr>
      </p:pic>
      <p:sp>
        <p:nvSpPr>
          <p:cNvPr id="7" name="Text 3"/>
          <p:cNvSpPr/>
          <p:nvPr/>
        </p:nvSpPr>
        <p:spPr>
          <a:xfrm>
            <a:off x="5918151" y="4489252"/>
            <a:ext cx="5376033" cy="638373"/>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FFFFFF"/>
                </a:solidFill>
                <a:latin typeface="Cabin" pitchFamily="34" charset="0"/>
                <a:ea typeface="Cabin" pitchFamily="34" charset="-122"/>
                <a:cs typeface="Cabin" pitchFamily="34" charset="-120"/>
              </a:rPr>
              <a:t>Key fact: Strategic location has driven settlement, trade, and cultural exchange for millennia.</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98086" y="1487917"/>
            <a:ext cx="10795524" cy="938808"/>
          </a:xfrm>
          <a:prstGeom prst="rect">
            <a:avLst/>
          </a:prstGeom>
          <a:noFill/>
          <a:ln/>
        </p:spPr>
        <p:txBody>
          <a:bodyPr wrap="square" lIns="0" tIns="0" rIns="0" bIns="0" rtlCol="0" anchor="t">
            <a:normAutofit/>
          </a:bodyPr>
          <a:lstStyle/>
          <a:p>
            <a:pPr algn="l" indent="0" marL="0">
              <a:lnSpc>
                <a:spcPct val="104000"/>
              </a:lnSpc>
              <a:buNone/>
            </a:pPr>
            <a:r>
              <a:rPr lang="en-US" sz="2950" dirty="0">
                <a:solidFill>
                  <a:srgbClr val="FFFFFF"/>
                </a:solidFill>
                <a:latin typeface="Unbounded" pitchFamily="34" charset="0"/>
                <a:ea typeface="Unbounded" pitchFamily="34" charset="-122"/>
                <a:cs typeface="Unbounded" pitchFamily="34" charset="-120"/>
              </a:rPr>
              <a:t>The Island’s Skeleton: Troodos, Kyrenia, and Mesaoria</a:t>
            </a:r>
            <a:endParaRPr lang="en-US" sz="2950" dirty="0"/>
          </a:p>
        </p:txBody>
      </p:sp>
      <p:pic>
        <p:nvPicPr>
          <p:cNvPr id="3" name="Image 0" descr="preencoded.png">    </p:cNvPr>
          <p:cNvPicPr>
            <a:picLocks noChangeAspect="1"/>
          </p:cNvPicPr>
          <p:nvPr/>
        </p:nvPicPr>
        <p:blipFill>
          <a:blip r:embed="rId1"/>
          <a:stretch>
            <a:fillRect/>
          </a:stretch>
        </p:blipFill>
        <p:spPr>
          <a:xfrm>
            <a:off x="698086" y="2800152"/>
            <a:ext cx="995338" cy="615156"/>
          </a:xfrm>
          <a:prstGeom prst="rect">
            <a:avLst/>
          </a:prstGeom>
        </p:spPr>
      </p:pic>
      <p:sp>
        <p:nvSpPr>
          <p:cNvPr id="4" name="Text 1"/>
          <p:cNvSpPr/>
          <p:nvPr/>
        </p:nvSpPr>
        <p:spPr>
          <a:xfrm>
            <a:off x="1942754" y="2800152"/>
            <a:ext cx="2187619" cy="586581"/>
          </a:xfrm>
          <a:prstGeom prst="rect">
            <a:avLst/>
          </a:prstGeom>
          <a:noFill/>
          <a:ln/>
        </p:spPr>
        <p:txBody>
          <a:bodyPr wrap="square" lIns="0" tIns="0" rIns="0" bIns="0" rtlCol="0" anchor="t">
            <a:normAutofit/>
          </a:bodyPr>
          <a:lstStyle/>
          <a:p>
            <a:pPr algn="l" indent="0" marL="0">
              <a:lnSpc>
                <a:spcPct val="104000"/>
              </a:lnSpc>
              <a:buNone/>
            </a:pPr>
            <a:r>
              <a:rPr lang="en-US" sz="1800" dirty="0">
                <a:solidFill>
                  <a:srgbClr val="CAD6DE"/>
                </a:solidFill>
                <a:latin typeface="Unbounded" pitchFamily="34" charset="0"/>
                <a:ea typeface="Unbounded" pitchFamily="34" charset="-122"/>
                <a:cs typeface="Unbounded" pitchFamily="34" charset="-120"/>
              </a:rPr>
              <a:t>Troodos Mountains</a:t>
            </a:r>
            <a:endParaRPr lang="en-US" sz="1800" dirty="0"/>
          </a:p>
        </p:txBody>
      </p:sp>
      <p:sp>
        <p:nvSpPr>
          <p:cNvPr id="5" name="Text 2"/>
          <p:cNvSpPr/>
          <p:nvPr/>
        </p:nvSpPr>
        <p:spPr>
          <a:xfrm>
            <a:off x="1942754" y="3506391"/>
            <a:ext cx="2187619" cy="1595934"/>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CAD6DE"/>
                </a:solidFill>
                <a:latin typeface="Cabin" pitchFamily="34" charset="0"/>
                <a:ea typeface="Cabin" pitchFamily="34" charset="-122"/>
                <a:cs typeface="Cabin" pitchFamily="34" charset="-120"/>
              </a:rPr>
              <a:t>Dominant massif in the south and west, reaching 1,952 m at Mount Olympus and supplying most winter runoff.</a:t>
            </a:r>
            <a:endParaRPr lang="en-US" sz="1550" dirty="0"/>
          </a:p>
        </p:txBody>
      </p:sp>
      <p:pic>
        <p:nvPicPr>
          <p:cNvPr id="6" name="Image 1" descr="preencoded.png">    </p:cNvPr>
          <p:cNvPicPr>
            <a:picLocks noChangeAspect="1"/>
          </p:cNvPicPr>
          <p:nvPr/>
        </p:nvPicPr>
        <p:blipFill>
          <a:blip r:embed="rId2"/>
          <a:stretch>
            <a:fillRect/>
          </a:stretch>
        </p:blipFill>
        <p:spPr>
          <a:xfrm>
            <a:off x="4379704" y="2800152"/>
            <a:ext cx="995338" cy="615156"/>
          </a:xfrm>
          <a:prstGeom prst="rect">
            <a:avLst/>
          </a:prstGeom>
        </p:spPr>
      </p:pic>
      <p:sp>
        <p:nvSpPr>
          <p:cNvPr id="7" name="Text 3"/>
          <p:cNvSpPr/>
          <p:nvPr/>
        </p:nvSpPr>
        <p:spPr>
          <a:xfrm>
            <a:off x="5624372" y="2800152"/>
            <a:ext cx="2187619" cy="879872"/>
          </a:xfrm>
          <a:prstGeom prst="rect">
            <a:avLst/>
          </a:prstGeom>
          <a:noFill/>
          <a:ln/>
        </p:spPr>
        <p:txBody>
          <a:bodyPr wrap="square" lIns="0" tIns="0" rIns="0" bIns="0" rtlCol="0" anchor="t">
            <a:normAutofit/>
          </a:bodyPr>
          <a:lstStyle/>
          <a:p>
            <a:pPr algn="l" indent="0" marL="0">
              <a:lnSpc>
                <a:spcPct val="104000"/>
              </a:lnSpc>
              <a:buNone/>
            </a:pPr>
            <a:r>
              <a:rPr lang="en-US" sz="1800" dirty="0">
                <a:solidFill>
                  <a:srgbClr val="CAD6DE"/>
                </a:solidFill>
                <a:latin typeface="Unbounded" pitchFamily="34" charset="0"/>
                <a:ea typeface="Unbounded" pitchFamily="34" charset="-122"/>
                <a:cs typeface="Unbounded" pitchFamily="34" charset="-120"/>
              </a:rPr>
              <a:t>Kyrenia (Pentadaktylos)</a:t>
            </a:r>
            <a:endParaRPr lang="en-US" sz="1800" dirty="0"/>
          </a:p>
        </p:txBody>
      </p:sp>
      <p:sp>
        <p:nvSpPr>
          <p:cNvPr id="8" name="Text 4"/>
          <p:cNvSpPr/>
          <p:nvPr/>
        </p:nvSpPr>
        <p:spPr>
          <a:xfrm>
            <a:off x="5624372" y="3799681"/>
            <a:ext cx="2187619" cy="1595934"/>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CAD6DE"/>
                </a:solidFill>
                <a:latin typeface="Cabin" pitchFamily="34" charset="0"/>
                <a:ea typeface="Cabin" pitchFamily="34" charset="-122"/>
                <a:cs typeface="Cabin" pitchFamily="34" charset="-120"/>
              </a:rPr>
              <a:t>Narrow limestone ridge along the north coast—sharp, rocky, locally dramatic and visible from the sea.</a:t>
            </a:r>
            <a:endParaRPr lang="en-US" sz="1550" dirty="0"/>
          </a:p>
        </p:txBody>
      </p:sp>
      <p:pic>
        <p:nvPicPr>
          <p:cNvPr id="9" name="Image 2" descr="preencoded.png">    </p:cNvPr>
          <p:cNvPicPr>
            <a:picLocks noChangeAspect="1"/>
          </p:cNvPicPr>
          <p:nvPr/>
        </p:nvPicPr>
        <p:blipFill>
          <a:blip r:embed="rId3"/>
          <a:stretch>
            <a:fillRect/>
          </a:stretch>
        </p:blipFill>
        <p:spPr>
          <a:xfrm>
            <a:off x="8061322" y="2800152"/>
            <a:ext cx="995338" cy="615156"/>
          </a:xfrm>
          <a:prstGeom prst="rect">
            <a:avLst/>
          </a:prstGeom>
        </p:spPr>
      </p:pic>
      <p:sp>
        <p:nvSpPr>
          <p:cNvPr id="10" name="Text 5"/>
          <p:cNvSpPr/>
          <p:nvPr/>
        </p:nvSpPr>
        <p:spPr>
          <a:xfrm>
            <a:off x="9305990" y="2800152"/>
            <a:ext cx="2187619" cy="293291"/>
          </a:xfrm>
          <a:prstGeom prst="rect">
            <a:avLst/>
          </a:prstGeom>
          <a:noFill/>
          <a:ln/>
        </p:spPr>
        <p:txBody>
          <a:bodyPr wrap="none" lIns="0" tIns="0" rIns="0" bIns="0" rtlCol="0" anchor="t"/>
          <a:lstStyle/>
          <a:p>
            <a:pPr algn="l" indent="0" marL="0">
              <a:lnSpc>
                <a:spcPct val="104000"/>
              </a:lnSpc>
              <a:buNone/>
            </a:pPr>
            <a:r>
              <a:rPr lang="en-US" sz="1800" dirty="0">
                <a:solidFill>
                  <a:srgbClr val="CAD6DE"/>
                </a:solidFill>
                <a:latin typeface="Unbounded" pitchFamily="34" charset="0"/>
                <a:ea typeface="Unbounded" pitchFamily="34" charset="-122"/>
                <a:cs typeface="Unbounded" pitchFamily="34" charset="-120"/>
              </a:rPr>
              <a:t>Mesaoria Plain</a:t>
            </a:r>
            <a:endParaRPr lang="en-US" sz="1800" dirty="0"/>
          </a:p>
        </p:txBody>
      </p:sp>
      <p:sp>
        <p:nvSpPr>
          <p:cNvPr id="11" name="Text 6"/>
          <p:cNvSpPr/>
          <p:nvPr/>
        </p:nvSpPr>
        <p:spPr>
          <a:xfrm>
            <a:off x="9305990" y="3213100"/>
            <a:ext cx="2187619" cy="1595934"/>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CAD6DE"/>
                </a:solidFill>
                <a:latin typeface="Cabin" pitchFamily="34" charset="0"/>
                <a:ea typeface="Cabin" pitchFamily="34" charset="-122"/>
                <a:cs typeface="Cabin" pitchFamily="34" charset="-120"/>
              </a:rPr>
              <a:t>Low, broad central plain between the ranges; home to Nicosia and the island’s major agricultural zones.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98086" y="652945"/>
            <a:ext cx="10795524" cy="751086"/>
          </a:xfrm>
          <a:prstGeom prst="rect">
            <a:avLst/>
          </a:prstGeom>
          <a:noFill/>
          <a:ln/>
        </p:spPr>
        <p:txBody>
          <a:bodyPr wrap="square" lIns="0" tIns="0" rIns="0" bIns="0" rtlCol="0" anchor="t">
            <a:normAutofit/>
          </a:bodyPr>
          <a:lstStyle/>
          <a:p>
            <a:pPr algn="l" indent="0" marL="0">
              <a:lnSpc>
                <a:spcPct val="104000"/>
              </a:lnSpc>
              <a:buNone/>
            </a:pPr>
            <a:r>
              <a:rPr lang="en-US" sz="2350" dirty="0">
                <a:solidFill>
                  <a:srgbClr val="FFFFFF"/>
                </a:solidFill>
                <a:latin typeface="Unbounded" pitchFamily="34" charset="0"/>
                <a:ea typeface="Unbounded" pitchFamily="34" charset="-122"/>
                <a:cs typeface="Unbounded" pitchFamily="34" charset="-120"/>
              </a:rPr>
              <a:t>Limestone Cliffs vs Volcanic Massif: The Geology You Can Feel</a:t>
            </a:r>
            <a:endParaRPr lang="en-US" sz="2350" dirty="0"/>
          </a:p>
        </p:txBody>
      </p:sp>
      <p:pic>
        <p:nvPicPr>
          <p:cNvPr id="3" name="Image 0" descr="preencoded.png">    </p:cNvPr>
          <p:cNvPicPr>
            <a:picLocks noChangeAspect="1"/>
          </p:cNvPicPr>
          <p:nvPr/>
        </p:nvPicPr>
        <p:blipFill>
          <a:blip r:embed="rId1"/>
          <a:stretch>
            <a:fillRect/>
          </a:stretch>
        </p:blipFill>
        <p:spPr>
          <a:xfrm>
            <a:off x="1106559" y="1721842"/>
            <a:ext cx="3267589" cy="4356894"/>
          </a:xfrm>
          <a:prstGeom prst="rect">
            <a:avLst/>
          </a:prstGeom>
        </p:spPr>
      </p:pic>
      <p:sp>
        <p:nvSpPr>
          <p:cNvPr id="4" name="Text 1"/>
          <p:cNvSpPr/>
          <p:nvPr/>
        </p:nvSpPr>
        <p:spPr>
          <a:xfrm>
            <a:off x="5178295" y="3029347"/>
            <a:ext cx="6321565" cy="918766"/>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CAD6DE"/>
                </a:solidFill>
                <a:latin typeface="Cabin" pitchFamily="34" charset="0"/>
                <a:ea typeface="Cabin" pitchFamily="34" charset="-122"/>
                <a:cs typeface="Cabin" pitchFamily="34" charset="-120"/>
              </a:rPr>
              <a:t>Troodos is an uplifted ophiolite: a volcanic, basaltic massif whose soils and slopes differ sharply from surrounding limestone. Kyrenia’s Pentadaktylos ridge is primarily limestone—karstic, sharp ridges and caves shaped by dissolution. Around the coasts, narrow lowlands and alluvial fans create fertile pockets for settlements.</a:t>
            </a:r>
            <a:endParaRPr lang="en-US" sz="1250" dirty="0"/>
          </a:p>
        </p:txBody>
      </p:sp>
      <p:sp>
        <p:nvSpPr>
          <p:cNvPr id="5" name="Text 2"/>
          <p:cNvSpPr/>
          <p:nvPr/>
        </p:nvSpPr>
        <p:spPr>
          <a:xfrm>
            <a:off x="5178295" y="4063008"/>
            <a:ext cx="6321565" cy="778371"/>
          </a:xfrm>
          <a:prstGeom prst="rect">
            <a:avLst/>
          </a:prstGeom>
          <a:noFill/>
          <a:ln/>
        </p:spPr>
        <p:txBody>
          <a:bodyPr wrap="square" lIns="0" tIns="0" rIns="0" bIns="0" rtlCol="0" anchor="t">
            <a:normAutofit/>
          </a:bodyPr>
          <a:lstStyle/>
          <a:p>
            <a:pPr algn="l" marL="254000" indent="-254000">
              <a:lnSpc>
                <a:spcPct val="120000"/>
              </a:lnSpc>
              <a:buSzPct val="100000"/>
              <a:buChar char="•"/>
            </a:pPr>
            <a:r>
              <a:rPr lang="en-US" sz="1250" dirty="0">
                <a:solidFill>
                  <a:srgbClr val="CAD6DE"/>
                </a:solidFill>
                <a:latin typeface="Cabin" pitchFamily="34" charset="0"/>
                <a:ea typeface="Cabin" pitchFamily="34" charset="-122"/>
                <a:cs typeface="Cabin" pitchFamily="34" charset="-120"/>
              </a:rPr>
              <a:t>Troodos: volcanic, rugged, rich in copper deposits historically</a:t>
            </a:r>
            <a:endParaRPr lang="en-US" sz="1250" dirty="0"/>
          </a:p>
          <a:p>
            <a:pPr algn="l" marL="254000" indent="-254000">
              <a:lnSpc>
                <a:spcPct val="120000"/>
              </a:lnSpc>
              <a:buSzPct val="100000"/>
              <a:buChar char="•"/>
            </a:pPr>
            <a:r>
              <a:rPr lang="en-US" sz="1250" dirty="0">
                <a:solidFill>
                  <a:srgbClr val="CAD6DE"/>
                </a:solidFill>
                <a:latin typeface="Cabin" pitchFamily="34" charset="0"/>
                <a:ea typeface="Cabin" pitchFamily="34" charset="-122"/>
                <a:cs typeface="Cabin" pitchFamily="34" charset="-120"/>
              </a:rPr>
              <a:t>Kyrenia: limestone, cliffs, karst features</a:t>
            </a:r>
            <a:endParaRPr lang="en-US" sz="1250" dirty="0"/>
          </a:p>
          <a:p>
            <a:pPr algn="l" marL="254000" indent="-254000">
              <a:lnSpc>
                <a:spcPct val="120000"/>
              </a:lnSpc>
              <a:buSzPct val="100000"/>
              <a:buChar char="•"/>
            </a:pPr>
            <a:r>
              <a:rPr lang="en-US" sz="1250" dirty="0">
                <a:solidFill>
                  <a:srgbClr val="CAD6DE"/>
                </a:solidFill>
                <a:latin typeface="Cabin" pitchFamily="34" charset="0"/>
                <a:ea typeface="Cabin" pitchFamily="34" charset="-122"/>
                <a:cs typeface="Cabin" pitchFamily="34" charset="-120"/>
              </a:rPr>
              <a:t>Coastal lowlands: sand, alluvium, variable width</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69971" y="1132217"/>
            <a:ext cx="6223638" cy="1408212"/>
          </a:xfrm>
          <a:prstGeom prst="rect">
            <a:avLst/>
          </a:prstGeom>
          <a:noFill/>
          <a:ln/>
        </p:spPr>
        <p:txBody>
          <a:bodyPr wrap="square" lIns="0" tIns="0" rIns="0" bIns="0" rtlCol="0" anchor="t">
            <a:normAutofit/>
          </a:bodyPr>
          <a:lstStyle/>
          <a:p>
            <a:pPr algn="l" indent="0" marL="0">
              <a:lnSpc>
                <a:spcPct val="104000"/>
              </a:lnSpc>
              <a:buNone/>
            </a:pPr>
            <a:r>
              <a:rPr lang="en-US" sz="2950" dirty="0">
                <a:solidFill>
                  <a:srgbClr val="FFFFFF"/>
                </a:solidFill>
                <a:latin typeface="Unbounded" pitchFamily="34" charset="0"/>
                <a:ea typeface="Unbounded" pitchFamily="34" charset="-122"/>
                <a:cs typeface="Unbounded" pitchFamily="34" charset="-120"/>
              </a:rPr>
              <a:t>Water That Comes in Seasons: Rivers, Dams, and Agricultural Survival</a:t>
            </a:r>
            <a:endParaRPr lang="en-US" sz="2950" dirty="0"/>
          </a:p>
        </p:txBody>
      </p:sp>
      <p:sp>
        <p:nvSpPr>
          <p:cNvPr id="4" name="Text 1"/>
          <p:cNvSpPr/>
          <p:nvPr/>
        </p:nvSpPr>
        <p:spPr>
          <a:xfrm>
            <a:off x="5269971" y="2814042"/>
            <a:ext cx="6223638" cy="1595934"/>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CAD6DE"/>
                </a:solidFill>
                <a:latin typeface="Cabin" pitchFamily="34" charset="0"/>
                <a:ea typeface="Cabin" pitchFamily="34" charset="-122"/>
                <a:cs typeface="Cabin" pitchFamily="34" charset="-120"/>
              </a:rPr>
              <a:t>Permanent rivers are rare; most channels are seasonal torrents fed by winter precipitation. Troodos is the primary source of winter runoff that feeds rivers like the Pedhieos and Yialias. Modern dams and irrigation schemes capture this brief flow to sustain agriculture and towns through the long dry summer.</a:t>
            </a:r>
            <a:endParaRPr lang="en-US" sz="1550" dirty="0"/>
          </a:p>
        </p:txBody>
      </p:sp>
      <p:sp>
        <p:nvSpPr>
          <p:cNvPr id="5" name="Shape 2"/>
          <p:cNvSpPr/>
          <p:nvPr/>
        </p:nvSpPr>
        <p:spPr>
          <a:xfrm>
            <a:off x="5269971" y="4634309"/>
            <a:ext cx="6223638" cy="1116905"/>
          </a:xfrm>
          <a:prstGeom prst="roundRect">
            <a:avLst>
              <a:gd name="adj" fmla="val 2679"/>
            </a:avLst>
          </a:prstGeom>
          <a:solidFill>
            <a:srgbClr val="022349"/>
          </a:solidFill>
          <a:ln/>
        </p:spPr>
      </p:sp>
      <p:pic>
        <p:nvPicPr>
          <p:cNvPr id="6" name="Image 1" descr="preencoded.png">    </p:cNvPr>
          <p:cNvPicPr>
            <a:picLocks noChangeAspect="1"/>
          </p:cNvPicPr>
          <p:nvPr/>
        </p:nvPicPr>
        <p:blipFill>
          <a:blip r:embed="rId2"/>
          <a:stretch>
            <a:fillRect/>
          </a:stretch>
        </p:blipFill>
        <p:spPr>
          <a:xfrm>
            <a:off x="5469396" y="4924921"/>
            <a:ext cx="249330" cy="199430"/>
          </a:xfrm>
          <a:prstGeom prst="rect">
            <a:avLst/>
          </a:prstGeom>
        </p:spPr>
      </p:pic>
      <p:sp>
        <p:nvSpPr>
          <p:cNvPr id="7" name="Text 3"/>
          <p:cNvSpPr/>
          <p:nvPr/>
        </p:nvSpPr>
        <p:spPr>
          <a:xfrm>
            <a:off x="5918151" y="4883547"/>
            <a:ext cx="5376033" cy="638373"/>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FFFFFF"/>
                </a:solidFill>
                <a:latin typeface="Cabin" pitchFamily="34" charset="0"/>
                <a:ea typeface="Cabin" pitchFamily="34" charset="-122"/>
                <a:cs typeface="Cabin" pitchFamily="34" charset="-120"/>
              </a:rPr>
              <a:t>Infrastructure note: Several large dams and transfer systems are critical to island-wide water security.</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98086" y="2012156"/>
            <a:ext cx="4590340" cy="2833588"/>
          </a:xfrm>
          <a:prstGeom prst="rect">
            <a:avLst/>
          </a:prstGeom>
        </p:spPr>
      </p:pic>
      <p:sp>
        <p:nvSpPr>
          <p:cNvPr id="3" name="Text 0"/>
          <p:cNvSpPr/>
          <p:nvPr/>
        </p:nvSpPr>
        <p:spPr>
          <a:xfrm>
            <a:off x="5781332" y="1548837"/>
            <a:ext cx="5718528" cy="938808"/>
          </a:xfrm>
          <a:prstGeom prst="rect">
            <a:avLst/>
          </a:prstGeom>
          <a:noFill/>
          <a:ln/>
        </p:spPr>
        <p:txBody>
          <a:bodyPr wrap="square" lIns="0" tIns="0" rIns="0" bIns="0" rtlCol="0" anchor="t">
            <a:normAutofit/>
          </a:bodyPr>
          <a:lstStyle/>
          <a:p>
            <a:pPr algn="l" indent="0" marL="0">
              <a:lnSpc>
                <a:spcPct val="104000"/>
              </a:lnSpc>
              <a:buNone/>
            </a:pPr>
            <a:r>
              <a:rPr lang="en-US" sz="2950" dirty="0">
                <a:solidFill>
                  <a:srgbClr val="FFFFFF"/>
                </a:solidFill>
                <a:latin typeface="Unbounded" pitchFamily="34" charset="0"/>
                <a:ea typeface="Unbounded" pitchFamily="34" charset="-122"/>
                <a:cs typeface="Unbounded" pitchFamily="34" charset="-120"/>
              </a:rPr>
              <a:t>Mesaoria’s Farms: Why Winter Rain Matters</a:t>
            </a:r>
            <a:endParaRPr lang="en-US" sz="2950" dirty="0"/>
          </a:p>
        </p:txBody>
      </p:sp>
      <p:sp>
        <p:nvSpPr>
          <p:cNvPr id="4" name="Text 1"/>
          <p:cNvSpPr/>
          <p:nvPr/>
        </p:nvSpPr>
        <p:spPr>
          <a:xfrm>
            <a:off x="5781332" y="2661543"/>
            <a:ext cx="5718528" cy="1276747"/>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CAD6DE"/>
                </a:solidFill>
                <a:latin typeface="Cabin" pitchFamily="34" charset="0"/>
                <a:ea typeface="Cabin" pitchFamily="34" charset="-122"/>
                <a:cs typeface="Cabin" pitchFamily="34" charset="-120"/>
              </a:rPr>
              <a:t>Mesaoria is the agricultural heartland: wheat and barley rely on winter rainfall rather than year-round rivers. Arable land makes up about 46.8% of the island, but productivity is tightly linked to variable precipitation and stored water from dams.</a:t>
            </a:r>
            <a:endParaRPr lang="en-US" sz="1550" dirty="0"/>
          </a:p>
        </p:txBody>
      </p:sp>
      <p:sp>
        <p:nvSpPr>
          <p:cNvPr id="5" name="Text 2"/>
          <p:cNvSpPr/>
          <p:nvPr/>
        </p:nvSpPr>
        <p:spPr>
          <a:xfrm>
            <a:off x="5781332" y="4117777"/>
            <a:ext cx="5718528" cy="1346498"/>
          </a:xfrm>
          <a:prstGeom prst="rect">
            <a:avLst/>
          </a:prstGeom>
          <a:noFill/>
          <a:ln/>
        </p:spPr>
        <p:txBody>
          <a:bodyPr wrap="square" lIns="0" tIns="0" rIns="0" bIns="0" rtlCol="0" anchor="t">
            <a:normAutofit/>
          </a:bodyPr>
          <a:lstStyle/>
          <a:p>
            <a:pPr algn="l" marL="314960" indent="-314960">
              <a:lnSpc>
                <a:spcPct val="133000"/>
              </a:lnSpc>
              <a:buSzPct val="100000"/>
              <a:buChar char="•"/>
            </a:pPr>
            <a:r>
              <a:rPr lang="en-US" sz="1550" dirty="0">
                <a:solidFill>
                  <a:srgbClr val="CAD6DE"/>
                </a:solidFill>
                <a:latin typeface="Cabin" pitchFamily="34" charset="0"/>
                <a:ea typeface="Cabin" pitchFamily="34" charset="-122"/>
                <a:cs typeface="Cabin" pitchFamily="34" charset="-120"/>
              </a:rPr>
              <a:t>Most rivers act as seasonal torrents—agriculture depends on winter storms and stored runoff.</a:t>
            </a:r>
            <a:endParaRPr lang="en-US" sz="1550" dirty="0"/>
          </a:p>
          <a:p>
            <a:pPr algn="l" marL="314960" indent="-314960">
              <a:lnSpc>
                <a:spcPct val="133000"/>
              </a:lnSpc>
              <a:buSzPct val="100000"/>
              <a:buChar char="•"/>
            </a:pPr>
            <a:r>
              <a:rPr lang="en-US" sz="1550" dirty="0">
                <a:solidFill>
                  <a:srgbClr val="CAD6DE"/>
                </a:solidFill>
                <a:latin typeface="Cabin" pitchFamily="34" charset="0"/>
                <a:ea typeface="Cabin" pitchFamily="34" charset="-122"/>
                <a:cs typeface="Cabin" pitchFamily="34" charset="-120"/>
              </a:rPr>
              <a:t>Irrigation and water transfers allow multiple crops but increase pressure on resources.</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98086" y="1015338"/>
            <a:ext cx="6223638" cy="938808"/>
          </a:xfrm>
          <a:prstGeom prst="rect">
            <a:avLst/>
          </a:prstGeom>
          <a:noFill/>
          <a:ln/>
        </p:spPr>
        <p:txBody>
          <a:bodyPr wrap="square" lIns="0" tIns="0" rIns="0" bIns="0" rtlCol="0" anchor="t">
            <a:normAutofit/>
          </a:bodyPr>
          <a:lstStyle/>
          <a:p>
            <a:pPr algn="l" indent="0" marL="0">
              <a:lnSpc>
                <a:spcPct val="104000"/>
              </a:lnSpc>
              <a:buNone/>
            </a:pPr>
            <a:r>
              <a:rPr lang="en-US" sz="2950" dirty="0">
                <a:solidFill>
                  <a:srgbClr val="FFFFFF"/>
                </a:solidFill>
                <a:latin typeface="Unbounded" pitchFamily="34" charset="0"/>
                <a:ea typeface="Unbounded" pitchFamily="34" charset="-122"/>
                <a:cs typeface="Unbounded" pitchFamily="34" charset="-120"/>
              </a:rPr>
              <a:t>Climate as a Landscape Generator</a:t>
            </a:r>
            <a:endParaRPr lang="en-US" sz="2950" dirty="0"/>
          </a:p>
        </p:txBody>
      </p:sp>
      <p:sp>
        <p:nvSpPr>
          <p:cNvPr id="4" name="Text 1"/>
          <p:cNvSpPr/>
          <p:nvPr/>
        </p:nvSpPr>
        <p:spPr>
          <a:xfrm>
            <a:off x="698086" y="2227759"/>
            <a:ext cx="6223638" cy="1276747"/>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CAD6DE"/>
                </a:solidFill>
                <a:latin typeface="Cabin" pitchFamily="34" charset="0"/>
                <a:ea typeface="Cabin" pitchFamily="34" charset="-122"/>
                <a:cs typeface="Cabin" pitchFamily="34" charset="-120"/>
              </a:rPr>
              <a:t>Cyprus has a pronounced Mediterranean climate: hot, dry summers and mild, wet winters. Rainfall concentrates from November to March; summers are long and drought-prone. Snow falls regularly above ~1,000 m in Troodos, supporting different ecosystems and seasonal water input.</a:t>
            </a:r>
            <a:endParaRPr lang="en-US" sz="1550" dirty="0"/>
          </a:p>
        </p:txBody>
      </p:sp>
      <p:sp>
        <p:nvSpPr>
          <p:cNvPr id="5" name="Shape 2"/>
          <p:cNvSpPr/>
          <p:nvPr/>
        </p:nvSpPr>
        <p:spPr>
          <a:xfrm>
            <a:off x="698086" y="3728839"/>
            <a:ext cx="3012107" cy="2139355"/>
          </a:xfrm>
          <a:prstGeom prst="roundRect">
            <a:avLst>
              <a:gd name="adj" fmla="val 1399"/>
            </a:avLst>
          </a:prstGeom>
          <a:solidFill>
            <a:srgbClr val="112836"/>
          </a:solidFill>
          <a:ln w="25399">
            <a:solidFill>
              <a:srgbClr val="49606E"/>
            </a:solidFill>
            <a:prstDash val="solid"/>
          </a:ln>
        </p:spPr>
      </p:sp>
      <p:sp>
        <p:nvSpPr>
          <p:cNvPr id="6" name="Text 3"/>
          <p:cNvSpPr/>
          <p:nvPr/>
        </p:nvSpPr>
        <p:spPr>
          <a:xfrm>
            <a:off x="922910" y="3953669"/>
            <a:ext cx="2562459" cy="293291"/>
          </a:xfrm>
          <a:prstGeom prst="rect">
            <a:avLst/>
          </a:prstGeom>
          <a:noFill/>
          <a:ln/>
        </p:spPr>
        <p:txBody>
          <a:bodyPr wrap="none" lIns="0" tIns="0" rIns="0" bIns="0" rtlCol="0" anchor="t"/>
          <a:lstStyle/>
          <a:p>
            <a:pPr algn="l" indent="0" marL="0">
              <a:lnSpc>
                <a:spcPct val="104000"/>
              </a:lnSpc>
              <a:buNone/>
            </a:pPr>
            <a:r>
              <a:rPr lang="en-US" sz="1800" dirty="0">
                <a:solidFill>
                  <a:srgbClr val="CAD6DE"/>
                </a:solidFill>
                <a:latin typeface="Unbounded" pitchFamily="34" charset="0"/>
                <a:ea typeface="Unbounded" pitchFamily="34" charset="-122"/>
                <a:cs typeface="Unbounded" pitchFamily="34" charset="-120"/>
              </a:rPr>
              <a:t>Seasonality</a:t>
            </a:r>
            <a:endParaRPr lang="en-US" sz="1800" dirty="0"/>
          </a:p>
        </p:txBody>
      </p:sp>
      <p:sp>
        <p:nvSpPr>
          <p:cNvPr id="7" name="Text 4"/>
          <p:cNvSpPr/>
          <p:nvPr/>
        </p:nvSpPr>
        <p:spPr>
          <a:xfrm>
            <a:off x="922910" y="4366617"/>
            <a:ext cx="2562459" cy="1276747"/>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CAD6DE"/>
                </a:solidFill>
                <a:latin typeface="Cabin" pitchFamily="34" charset="0"/>
                <a:ea typeface="Cabin" pitchFamily="34" charset="-122"/>
                <a:cs typeface="Cabin" pitchFamily="34" charset="-120"/>
              </a:rPr>
              <a:t>Winter rains supply rivers; summer droughts shape farming and water storage needs.</a:t>
            </a:r>
            <a:endParaRPr lang="en-US" sz="1550" dirty="0"/>
          </a:p>
        </p:txBody>
      </p:sp>
      <p:sp>
        <p:nvSpPr>
          <p:cNvPr id="8" name="Shape 5"/>
          <p:cNvSpPr/>
          <p:nvPr/>
        </p:nvSpPr>
        <p:spPr>
          <a:xfrm>
            <a:off x="3909617" y="3728839"/>
            <a:ext cx="3012107" cy="2139355"/>
          </a:xfrm>
          <a:prstGeom prst="roundRect">
            <a:avLst>
              <a:gd name="adj" fmla="val 1399"/>
            </a:avLst>
          </a:prstGeom>
          <a:solidFill>
            <a:srgbClr val="112836"/>
          </a:solidFill>
          <a:ln w="25399">
            <a:solidFill>
              <a:srgbClr val="49606E"/>
            </a:solidFill>
            <a:prstDash val="solid"/>
          </a:ln>
        </p:spPr>
      </p:sp>
      <p:sp>
        <p:nvSpPr>
          <p:cNvPr id="9" name="Text 6"/>
          <p:cNvSpPr/>
          <p:nvPr/>
        </p:nvSpPr>
        <p:spPr>
          <a:xfrm>
            <a:off x="4134441" y="3953669"/>
            <a:ext cx="2562459" cy="293291"/>
          </a:xfrm>
          <a:prstGeom prst="rect">
            <a:avLst/>
          </a:prstGeom>
          <a:noFill/>
          <a:ln/>
        </p:spPr>
        <p:txBody>
          <a:bodyPr wrap="none" lIns="0" tIns="0" rIns="0" bIns="0" rtlCol="0" anchor="t"/>
          <a:lstStyle/>
          <a:p>
            <a:pPr algn="l" indent="0" marL="0">
              <a:lnSpc>
                <a:spcPct val="104000"/>
              </a:lnSpc>
              <a:buNone/>
            </a:pPr>
            <a:r>
              <a:rPr lang="en-US" sz="1800" dirty="0">
                <a:solidFill>
                  <a:srgbClr val="CAD6DE"/>
                </a:solidFill>
                <a:latin typeface="Unbounded" pitchFamily="34" charset="0"/>
                <a:ea typeface="Unbounded" pitchFamily="34" charset="-122"/>
                <a:cs typeface="Unbounded" pitchFamily="34" charset="-120"/>
              </a:rPr>
              <a:t>Microclimates</a:t>
            </a:r>
            <a:endParaRPr lang="en-US" sz="1800" dirty="0"/>
          </a:p>
        </p:txBody>
      </p:sp>
      <p:sp>
        <p:nvSpPr>
          <p:cNvPr id="10" name="Text 7"/>
          <p:cNvSpPr/>
          <p:nvPr/>
        </p:nvSpPr>
        <p:spPr>
          <a:xfrm>
            <a:off x="4134441" y="4366617"/>
            <a:ext cx="2562459" cy="957560"/>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CAD6DE"/>
                </a:solidFill>
                <a:latin typeface="Cabin" pitchFamily="34" charset="0"/>
                <a:ea typeface="Cabin" pitchFamily="34" charset="-122"/>
                <a:cs typeface="Cabin" pitchFamily="34" charset="-120"/>
              </a:rPr>
              <a:t>Higher elevations are cooler and wetter, creating distinct mountain ecology.</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98086" y="1919089"/>
            <a:ext cx="4026196" cy="3019723"/>
          </a:xfrm>
          <a:prstGeom prst="rect">
            <a:avLst/>
          </a:prstGeom>
        </p:spPr>
      </p:pic>
      <p:sp>
        <p:nvSpPr>
          <p:cNvPr id="3" name="Text 0"/>
          <p:cNvSpPr/>
          <p:nvPr/>
        </p:nvSpPr>
        <p:spPr>
          <a:xfrm>
            <a:off x="5217188" y="1119716"/>
            <a:ext cx="6282672" cy="1408212"/>
          </a:xfrm>
          <a:prstGeom prst="rect">
            <a:avLst/>
          </a:prstGeom>
          <a:noFill/>
          <a:ln/>
        </p:spPr>
        <p:txBody>
          <a:bodyPr wrap="square" lIns="0" tIns="0" rIns="0" bIns="0" rtlCol="0" anchor="t">
            <a:normAutofit/>
          </a:bodyPr>
          <a:lstStyle/>
          <a:p>
            <a:pPr algn="l" indent="0" marL="0">
              <a:lnSpc>
                <a:spcPct val="104000"/>
              </a:lnSpc>
              <a:buNone/>
            </a:pPr>
            <a:r>
              <a:rPr lang="en-US" sz="2950" dirty="0">
                <a:solidFill>
                  <a:srgbClr val="FFFFFF"/>
                </a:solidFill>
                <a:latin typeface="Unbounded" pitchFamily="34" charset="0"/>
                <a:ea typeface="Unbounded" pitchFamily="34" charset="-122"/>
                <a:cs typeface="Unbounded" pitchFamily="34" charset="-120"/>
              </a:rPr>
              <a:t>Vegetation Under Pressure: Forests, Maquis, and Woodland Scale</a:t>
            </a:r>
            <a:endParaRPr lang="en-US" sz="2950" dirty="0"/>
          </a:p>
        </p:txBody>
      </p:sp>
      <p:sp>
        <p:nvSpPr>
          <p:cNvPr id="4" name="Text 1"/>
          <p:cNvSpPr/>
          <p:nvPr/>
        </p:nvSpPr>
        <p:spPr>
          <a:xfrm>
            <a:off x="5217188" y="2701826"/>
            <a:ext cx="6282672" cy="1595934"/>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CAD6DE"/>
                </a:solidFill>
                <a:latin typeface="Cabin" pitchFamily="34" charset="0"/>
                <a:ea typeface="Cabin" pitchFamily="34" charset="-122"/>
                <a:cs typeface="Cabin" pitchFamily="34" charset="-120"/>
              </a:rPr>
              <a:t>Woodland covers roughly 12% of Cyprus, concentrated on Troodos and parts of Kyrenia. Native species include Pinus brutia (Calabrian pine), cedars, cypresses, and several oak species. Overgrazing and fire have expanded maquis and degraded batha in places where forests have retreated.</a:t>
            </a:r>
            <a:endParaRPr lang="en-US" sz="1550" dirty="0"/>
          </a:p>
        </p:txBody>
      </p:sp>
      <p:sp>
        <p:nvSpPr>
          <p:cNvPr id="5" name="Text 2"/>
          <p:cNvSpPr/>
          <p:nvPr/>
        </p:nvSpPr>
        <p:spPr>
          <a:xfrm>
            <a:off x="5217188" y="4477246"/>
            <a:ext cx="6282672" cy="1416248"/>
          </a:xfrm>
          <a:prstGeom prst="rect">
            <a:avLst/>
          </a:prstGeom>
          <a:noFill/>
          <a:ln/>
        </p:spPr>
        <p:txBody>
          <a:bodyPr wrap="square" lIns="0" tIns="0" rIns="0" bIns="0" rtlCol="0" anchor="t">
            <a:normAutofit/>
          </a:bodyPr>
          <a:lstStyle/>
          <a:p>
            <a:pPr algn="l" marL="314960" indent="-314960">
              <a:lnSpc>
                <a:spcPct val="133000"/>
              </a:lnSpc>
              <a:buSzPct val="100000"/>
              <a:buChar char="•"/>
            </a:pPr>
            <a:r>
              <a:rPr lang="en-US" sz="1550" dirty="0">
                <a:solidFill>
                  <a:srgbClr val="CAD6DE"/>
                </a:solidFill>
                <a:latin typeface="Cabin" pitchFamily="34" charset="0"/>
                <a:ea typeface="Cabin" pitchFamily="34" charset="-122"/>
                <a:cs typeface="Cabin" pitchFamily="34" charset="-120"/>
              </a:rPr>
              <a:t>Troodos: denser, higher-elevation forests</a:t>
            </a:r>
            <a:endParaRPr lang="en-US" sz="1550" dirty="0"/>
          </a:p>
          <a:p>
            <a:pPr algn="l" marL="314960" indent="-314960">
              <a:lnSpc>
                <a:spcPct val="133000"/>
              </a:lnSpc>
              <a:buSzPct val="100000"/>
              <a:buChar char="•"/>
            </a:pPr>
            <a:r>
              <a:rPr lang="en-US" sz="1550" dirty="0">
                <a:solidFill>
                  <a:srgbClr val="CAD6DE"/>
                </a:solidFill>
                <a:latin typeface="Cabin" pitchFamily="34" charset="0"/>
                <a:ea typeface="Cabin" pitchFamily="34" charset="-122"/>
                <a:cs typeface="Cabin" pitchFamily="34" charset="-120"/>
              </a:rPr>
              <a:t>Lowlands: maquis and scrub, shaped by grazing and cultivation</a:t>
            </a:r>
            <a:endParaRPr lang="en-US" sz="1550" dirty="0"/>
          </a:p>
          <a:p>
            <a:pPr algn="l" marL="314960" indent="-314960">
              <a:lnSpc>
                <a:spcPct val="133000"/>
              </a:lnSpc>
              <a:buSzPct val="100000"/>
              <a:buChar char="•"/>
            </a:pPr>
            <a:r>
              <a:rPr lang="en-US" sz="1550" dirty="0">
                <a:solidFill>
                  <a:srgbClr val="CAD6DE"/>
                </a:solidFill>
                <a:latin typeface="Cabin" pitchFamily="34" charset="0"/>
                <a:ea typeface="Cabin" pitchFamily="34" charset="-122"/>
                <a:cs typeface="Cabin" pitchFamily="34" charset="-120"/>
              </a:rPr>
              <a:t>Conservation challenge: balancing grazing, wildfire risk, and reforestation</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69971" y="972674"/>
            <a:ext cx="6223638" cy="1408212"/>
          </a:xfrm>
          <a:prstGeom prst="rect">
            <a:avLst/>
          </a:prstGeom>
          <a:noFill/>
          <a:ln/>
        </p:spPr>
        <p:txBody>
          <a:bodyPr wrap="square" lIns="0" tIns="0" rIns="0" bIns="0" rtlCol="0" anchor="t">
            <a:normAutofit/>
          </a:bodyPr>
          <a:lstStyle/>
          <a:p>
            <a:pPr algn="l" indent="0" marL="0">
              <a:lnSpc>
                <a:spcPct val="104000"/>
              </a:lnSpc>
              <a:buNone/>
            </a:pPr>
            <a:r>
              <a:rPr lang="en-US" sz="2950" dirty="0">
                <a:solidFill>
                  <a:srgbClr val="FFFFFF"/>
                </a:solidFill>
                <a:latin typeface="Unbounded" pitchFamily="34" charset="0"/>
                <a:ea typeface="Unbounded" pitchFamily="34" charset="-122"/>
                <a:cs typeface="Unbounded" pitchFamily="34" charset="-120"/>
              </a:rPr>
              <a:t>The Geography of Division: Four Segments on One Island</a:t>
            </a:r>
            <a:endParaRPr lang="en-US" sz="2950" dirty="0"/>
          </a:p>
        </p:txBody>
      </p:sp>
      <p:sp>
        <p:nvSpPr>
          <p:cNvPr id="4" name="Text 1"/>
          <p:cNvSpPr/>
          <p:nvPr/>
        </p:nvSpPr>
        <p:spPr>
          <a:xfrm>
            <a:off x="5269971" y="2654498"/>
            <a:ext cx="6223638" cy="1595934"/>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CAD6DE"/>
                </a:solidFill>
                <a:latin typeface="Cabin" pitchFamily="34" charset="0"/>
                <a:ea typeface="Cabin" pitchFamily="34" charset="-122"/>
                <a:cs typeface="Cabin" pitchFamily="34" charset="-120"/>
              </a:rPr>
              <a:t>Cyprus’s political map overlays its physical terrain. The Republic of Cyprus controls about 60% in the south; the Turkish Republic of Northern Cyprus occupies roughly 36% in the north; the UN Green Line buffer (about 4%) separates them. Mountains, plains, and transport routes all influence how the island is partitioned and administered.</a:t>
            </a:r>
            <a:endParaRPr lang="en-US" sz="1550" dirty="0"/>
          </a:p>
        </p:txBody>
      </p:sp>
      <p:sp>
        <p:nvSpPr>
          <p:cNvPr id="5" name="Shape 2"/>
          <p:cNvSpPr/>
          <p:nvPr/>
        </p:nvSpPr>
        <p:spPr>
          <a:xfrm>
            <a:off x="5269971" y="4474766"/>
            <a:ext cx="6223638" cy="1436092"/>
          </a:xfrm>
          <a:prstGeom prst="roundRect">
            <a:avLst>
              <a:gd name="adj" fmla="val 2084"/>
            </a:avLst>
          </a:prstGeom>
          <a:solidFill>
            <a:srgbClr val="08786D"/>
          </a:solidFill>
          <a:ln/>
        </p:spPr>
      </p:sp>
      <p:pic>
        <p:nvPicPr>
          <p:cNvPr id="6" name="Image 1" descr="preencoded.png">    </p:cNvPr>
          <p:cNvPicPr>
            <a:picLocks noChangeAspect="1"/>
          </p:cNvPicPr>
          <p:nvPr/>
        </p:nvPicPr>
        <p:blipFill>
          <a:blip r:embed="rId2"/>
          <a:stretch>
            <a:fillRect/>
          </a:stretch>
        </p:blipFill>
        <p:spPr>
          <a:xfrm>
            <a:off x="5469396" y="4765377"/>
            <a:ext cx="249330" cy="199430"/>
          </a:xfrm>
          <a:prstGeom prst="rect">
            <a:avLst/>
          </a:prstGeom>
        </p:spPr>
      </p:pic>
      <p:sp>
        <p:nvSpPr>
          <p:cNvPr id="7" name="Text 3"/>
          <p:cNvSpPr/>
          <p:nvPr/>
        </p:nvSpPr>
        <p:spPr>
          <a:xfrm>
            <a:off x="5918151" y="4724003"/>
            <a:ext cx="5376033" cy="957560"/>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FFFFFF"/>
                </a:solidFill>
                <a:latin typeface="Cabin" pitchFamily="34" charset="0"/>
                <a:ea typeface="Cabin" pitchFamily="34" charset="-122"/>
                <a:cs typeface="Cabin" pitchFamily="34" charset="-120"/>
              </a:rPr>
              <a:t>Important: Physical features like the Kyrenia ridge and Mesaoria corridor affect movement, settlement, and the location of the buffer zone.</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pic>
        <p:nvPicPr>
          <p:cNvPr id="3" name="Image 1" descr="preencoded.png">    </p:cNvPr>
          <p:cNvPicPr>
            <a:picLocks noChangeAspect="1"/>
          </p:cNvPicPr>
          <p:nvPr/>
        </p:nvPicPr>
        <p:blipFill>
          <a:blip r:embed="rId2"/>
          <a:stretch>
            <a:fillRect/>
          </a:stretch>
        </p:blipFill>
        <p:spPr>
          <a:xfrm>
            <a:off x="8486563" y="2009775"/>
            <a:ext cx="2838379" cy="2838450"/>
          </a:xfrm>
          <a:prstGeom prst="rect">
            <a:avLst/>
          </a:prstGeom>
        </p:spPr>
      </p:pic>
      <p:sp>
        <p:nvSpPr>
          <p:cNvPr id="4" name="Text 0"/>
          <p:cNvSpPr/>
          <p:nvPr/>
        </p:nvSpPr>
        <p:spPr>
          <a:xfrm>
            <a:off x="698086" y="651529"/>
            <a:ext cx="6223638" cy="844748"/>
          </a:xfrm>
          <a:prstGeom prst="rect">
            <a:avLst/>
          </a:prstGeom>
          <a:noFill/>
          <a:ln/>
        </p:spPr>
        <p:txBody>
          <a:bodyPr wrap="square" lIns="0" tIns="0" rIns="0" bIns="0" rtlCol="0" anchor="t">
            <a:normAutofit/>
          </a:bodyPr>
          <a:lstStyle/>
          <a:p>
            <a:pPr algn="l" indent="0" marL="0">
              <a:lnSpc>
                <a:spcPct val="104000"/>
              </a:lnSpc>
              <a:buNone/>
            </a:pPr>
            <a:r>
              <a:rPr lang="en-US" sz="2650" dirty="0">
                <a:solidFill>
                  <a:srgbClr val="FFFFFF"/>
                </a:solidFill>
                <a:latin typeface="Unbounded" pitchFamily="34" charset="0"/>
                <a:ea typeface="Unbounded" pitchFamily="34" charset="-122"/>
                <a:cs typeface="Unbounded" pitchFamily="34" charset="-120"/>
              </a:rPr>
              <a:t>Conclusion: One Island, Many Realities</a:t>
            </a:r>
            <a:endParaRPr lang="en-US" sz="2650" dirty="0"/>
          </a:p>
        </p:txBody>
      </p:sp>
      <p:sp>
        <p:nvSpPr>
          <p:cNvPr id="5" name="Text 1"/>
          <p:cNvSpPr/>
          <p:nvPr/>
        </p:nvSpPr>
        <p:spPr>
          <a:xfrm>
            <a:off x="698086" y="1717179"/>
            <a:ext cx="6223638" cy="1363762"/>
          </a:xfrm>
          <a:prstGeom prst="rect">
            <a:avLst/>
          </a:prstGeom>
          <a:noFill/>
          <a:ln/>
        </p:spPr>
        <p:txBody>
          <a:bodyPr wrap="square" lIns="0" tIns="0" rIns="0" bIns="0" rtlCol="0" anchor="t">
            <a:normAutofit/>
          </a:bodyPr>
          <a:lstStyle/>
          <a:p>
            <a:pPr algn="l" indent="0" marL="0">
              <a:lnSpc>
                <a:spcPct val="127000"/>
              </a:lnSpc>
              <a:buNone/>
            </a:pPr>
            <a:r>
              <a:rPr lang="en-US" sz="1400" dirty="0">
                <a:solidFill>
                  <a:srgbClr val="CAD6DE"/>
                </a:solidFill>
                <a:latin typeface="Cabin" pitchFamily="34" charset="0"/>
                <a:ea typeface="Cabin" pitchFamily="34" charset="-122"/>
                <a:cs typeface="Cabin" pitchFamily="34" charset="-120"/>
              </a:rPr>
              <a:t>Troodos, Kyrenia, and Mesaoria shape where water flows, where farms prosper, and where people live. Mediterranean climate seasons govern river life—brief winter rivers, long dry summers—and human infrastructure compensates with dams and irrigation. Today’s political geography maps onto this physical tapestry: terrain and climate help explain the island’s social and economic patterns.</a:t>
            </a:r>
            <a:endParaRPr lang="en-US" sz="1400" dirty="0"/>
          </a:p>
        </p:txBody>
      </p:sp>
      <p:sp>
        <p:nvSpPr>
          <p:cNvPr id="6" name="Shape 2"/>
          <p:cNvSpPr/>
          <p:nvPr/>
        </p:nvSpPr>
        <p:spPr>
          <a:xfrm>
            <a:off x="698086" y="3262709"/>
            <a:ext cx="3031057" cy="1538188"/>
          </a:xfrm>
          <a:prstGeom prst="roundRect">
            <a:avLst>
              <a:gd name="adj" fmla="val 1751"/>
            </a:avLst>
          </a:prstGeom>
          <a:solidFill>
            <a:srgbClr val="304755"/>
          </a:solidFill>
          <a:ln/>
        </p:spPr>
      </p:sp>
      <p:sp>
        <p:nvSpPr>
          <p:cNvPr id="7" name="Text 3"/>
          <p:cNvSpPr/>
          <p:nvPr/>
        </p:nvSpPr>
        <p:spPr>
          <a:xfrm>
            <a:off x="877568" y="3442196"/>
            <a:ext cx="2672093" cy="264021"/>
          </a:xfrm>
          <a:prstGeom prst="rect">
            <a:avLst/>
          </a:prstGeom>
          <a:noFill/>
          <a:ln/>
        </p:spPr>
        <p:txBody>
          <a:bodyPr wrap="none" lIns="0" tIns="0" rIns="0" bIns="0" rtlCol="0" anchor="t"/>
          <a:lstStyle/>
          <a:p>
            <a:pPr algn="l" indent="0" marL="0">
              <a:lnSpc>
                <a:spcPct val="104000"/>
              </a:lnSpc>
              <a:buNone/>
            </a:pPr>
            <a:r>
              <a:rPr lang="en-US" sz="1650" dirty="0">
                <a:solidFill>
                  <a:srgbClr val="CAD6DE"/>
                </a:solidFill>
                <a:latin typeface="Unbounded" pitchFamily="34" charset="0"/>
                <a:ea typeface="Unbounded" pitchFamily="34" charset="-122"/>
                <a:cs typeface="Unbounded" pitchFamily="34" charset="-120"/>
              </a:rPr>
              <a:t>Physical Drivers</a:t>
            </a:r>
            <a:endParaRPr lang="en-US" sz="1650" dirty="0"/>
          </a:p>
        </p:txBody>
      </p:sp>
      <p:sp>
        <p:nvSpPr>
          <p:cNvPr id="8" name="Text 4"/>
          <p:cNvSpPr/>
          <p:nvPr/>
        </p:nvSpPr>
        <p:spPr>
          <a:xfrm>
            <a:off x="877568" y="3803154"/>
            <a:ext cx="2672093" cy="545505"/>
          </a:xfrm>
          <a:prstGeom prst="rect">
            <a:avLst/>
          </a:prstGeom>
          <a:noFill/>
          <a:ln/>
        </p:spPr>
        <p:txBody>
          <a:bodyPr wrap="square" lIns="0" tIns="0" rIns="0" bIns="0" rtlCol="0" anchor="t">
            <a:normAutofit/>
          </a:bodyPr>
          <a:lstStyle/>
          <a:p>
            <a:pPr algn="l" indent="0" marL="0">
              <a:lnSpc>
                <a:spcPct val="127000"/>
              </a:lnSpc>
              <a:buNone/>
            </a:pPr>
            <a:r>
              <a:rPr lang="en-US" sz="1400" dirty="0">
                <a:solidFill>
                  <a:srgbClr val="CAD6DE"/>
                </a:solidFill>
                <a:latin typeface="Cabin" pitchFamily="34" charset="0"/>
                <a:ea typeface="Cabin" pitchFamily="34" charset="-122"/>
                <a:cs typeface="Cabin" pitchFamily="34" charset="-120"/>
              </a:rPr>
              <a:t>Mountains, plains, and rock types create diverse land uses.</a:t>
            </a:r>
            <a:endParaRPr lang="en-US" sz="1400" dirty="0"/>
          </a:p>
        </p:txBody>
      </p:sp>
      <p:sp>
        <p:nvSpPr>
          <p:cNvPr id="9" name="Shape 5"/>
          <p:cNvSpPr/>
          <p:nvPr/>
        </p:nvSpPr>
        <p:spPr>
          <a:xfrm>
            <a:off x="3890667" y="3262709"/>
            <a:ext cx="3031057" cy="1538188"/>
          </a:xfrm>
          <a:prstGeom prst="roundRect">
            <a:avLst>
              <a:gd name="adj" fmla="val 1751"/>
            </a:avLst>
          </a:prstGeom>
          <a:solidFill>
            <a:srgbClr val="304755"/>
          </a:solidFill>
          <a:ln/>
        </p:spPr>
      </p:sp>
      <p:sp>
        <p:nvSpPr>
          <p:cNvPr id="10" name="Text 6"/>
          <p:cNvSpPr/>
          <p:nvPr/>
        </p:nvSpPr>
        <p:spPr>
          <a:xfrm>
            <a:off x="4070149" y="3442196"/>
            <a:ext cx="2672093" cy="264021"/>
          </a:xfrm>
          <a:prstGeom prst="rect">
            <a:avLst/>
          </a:prstGeom>
          <a:noFill/>
          <a:ln/>
        </p:spPr>
        <p:txBody>
          <a:bodyPr wrap="none" lIns="0" tIns="0" rIns="0" bIns="0" rtlCol="0" anchor="t"/>
          <a:lstStyle/>
          <a:p>
            <a:pPr algn="l" indent="0" marL="0">
              <a:lnSpc>
                <a:spcPct val="104000"/>
              </a:lnSpc>
              <a:buNone/>
            </a:pPr>
            <a:r>
              <a:rPr lang="en-US" sz="1650" dirty="0">
                <a:solidFill>
                  <a:srgbClr val="CAD6DE"/>
                </a:solidFill>
                <a:latin typeface="Unbounded" pitchFamily="34" charset="0"/>
                <a:ea typeface="Unbounded" pitchFamily="34" charset="-122"/>
                <a:cs typeface="Unbounded" pitchFamily="34" charset="-120"/>
              </a:rPr>
              <a:t>Human Adaptation</a:t>
            </a:r>
            <a:endParaRPr lang="en-US" sz="1650" dirty="0"/>
          </a:p>
        </p:txBody>
      </p:sp>
      <p:sp>
        <p:nvSpPr>
          <p:cNvPr id="11" name="Text 7"/>
          <p:cNvSpPr/>
          <p:nvPr/>
        </p:nvSpPr>
        <p:spPr>
          <a:xfrm>
            <a:off x="4070149" y="3803154"/>
            <a:ext cx="2672093" cy="818257"/>
          </a:xfrm>
          <a:prstGeom prst="rect">
            <a:avLst/>
          </a:prstGeom>
          <a:noFill/>
          <a:ln/>
        </p:spPr>
        <p:txBody>
          <a:bodyPr wrap="square" lIns="0" tIns="0" rIns="0" bIns="0" rtlCol="0" anchor="t">
            <a:normAutofit/>
          </a:bodyPr>
          <a:lstStyle/>
          <a:p>
            <a:pPr algn="l" indent="0" marL="0">
              <a:lnSpc>
                <a:spcPct val="127000"/>
              </a:lnSpc>
              <a:buNone/>
            </a:pPr>
            <a:r>
              <a:rPr lang="en-US" sz="1400" dirty="0">
                <a:solidFill>
                  <a:srgbClr val="CAD6DE"/>
                </a:solidFill>
                <a:latin typeface="Cabin" pitchFamily="34" charset="0"/>
                <a:ea typeface="Cabin" pitchFamily="34" charset="-122"/>
                <a:cs typeface="Cabin" pitchFamily="34" charset="-120"/>
              </a:rPr>
              <a:t>Dams, irrigation, and land management support agriculture despite seasonality.</a:t>
            </a:r>
            <a:endParaRPr lang="en-US" sz="1400" dirty="0"/>
          </a:p>
        </p:txBody>
      </p:sp>
      <p:sp>
        <p:nvSpPr>
          <p:cNvPr id="12" name="Shape 8"/>
          <p:cNvSpPr/>
          <p:nvPr/>
        </p:nvSpPr>
        <p:spPr>
          <a:xfrm>
            <a:off x="698086" y="4962426"/>
            <a:ext cx="6223638" cy="1265436"/>
          </a:xfrm>
          <a:prstGeom prst="roundRect">
            <a:avLst>
              <a:gd name="adj" fmla="val 2128"/>
            </a:avLst>
          </a:prstGeom>
          <a:solidFill>
            <a:srgbClr val="304755"/>
          </a:solidFill>
          <a:ln/>
        </p:spPr>
      </p:sp>
      <p:sp>
        <p:nvSpPr>
          <p:cNvPr id="13" name="Text 9"/>
          <p:cNvSpPr/>
          <p:nvPr/>
        </p:nvSpPr>
        <p:spPr>
          <a:xfrm>
            <a:off x="877568" y="5141912"/>
            <a:ext cx="5864674" cy="264021"/>
          </a:xfrm>
          <a:prstGeom prst="rect">
            <a:avLst/>
          </a:prstGeom>
          <a:noFill/>
          <a:ln/>
        </p:spPr>
        <p:txBody>
          <a:bodyPr wrap="none" lIns="0" tIns="0" rIns="0" bIns="0" rtlCol="0" anchor="t"/>
          <a:lstStyle/>
          <a:p>
            <a:pPr algn="l" indent="0" marL="0">
              <a:lnSpc>
                <a:spcPct val="104000"/>
              </a:lnSpc>
              <a:buNone/>
            </a:pPr>
            <a:r>
              <a:rPr lang="en-US" sz="1650" dirty="0">
                <a:solidFill>
                  <a:srgbClr val="CAD6DE"/>
                </a:solidFill>
                <a:latin typeface="Unbounded" pitchFamily="34" charset="0"/>
                <a:ea typeface="Unbounded" pitchFamily="34" charset="-122"/>
                <a:cs typeface="Unbounded" pitchFamily="34" charset="-120"/>
              </a:rPr>
              <a:t>Geography &amp; Politics</a:t>
            </a:r>
            <a:endParaRPr lang="en-US" sz="1650" dirty="0"/>
          </a:p>
        </p:txBody>
      </p:sp>
      <p:sp>
        <p:nvSpPr>
          <p:cNvPr id="14" name="Text 10"/>
          <p:cNvSpPr/>
          <p:nvPr/>
        </p:nvSpPr>
        <p:spPr>
          <a:xfrm>
            <a:off x="877568" y="5502870"/>
            <a:ext cx="5864674" cy="545505"/>
          </a:xfrm>
          <a:prstGeom prst="rect">
            <a:avLst/>
          </a:prstGeom>
          <a:noFill/>
          <a:ln/>
        </p:spPr>
        <p:txBody>
          <a:bodyPr wrap="square" lIns="0" tIns="0" rIns="0" bIns="0" rtlCol="0" anchor="t">
            <a:normAutofit/>
          </a:bodyPr>
          <a:lstStyle/>
          <a:p>
            <a:pPr algn="l" indent="0" marL="0">
              <a:lnSpc>
                <a:spcPct val="127000"/>
              </a:lnSpc>
              <a:buNone/>
            </a:pPr>
            <a:r>
              <a:rPr lang="en-US" sz="1400" dirty="0">
                <a:solidFill>
                  <a:srgbClr val="CAD6DE"/>
                </a:solidFill>
                <a:latin typeface="Cabin" pitchFamily="34" charset="0"/>
                <a:ea typeface="Cabin" pitchFamily="34" charset="-122"/>
                <a:cs typeface="Cabin" pitchFamily="34" charset="-120"/>
              </a:rPr>
              <a:t>The island’s physical structure has helped shape its persistent human divisions.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2026-10-20T07:30:13Z</dcterms:created>
  <dcterms:modified xsi:type="dcterms:W3CDTF">2026-10-20T07:30:13Z</dcterms:modified>
</cp:coreProperties>
</file>