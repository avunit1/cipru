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JetBrains Mono"/>
      <ns0:bold ns1:id="rIdFont20"/>
      <ns0:regular ns1:id="rIdFont21"/>
    </ns0:embeddedFont>
    <ns0:embeddedFont>
      <ns0:font typeface="Plus Jakarta Sans"/>
      <ns0:italic ns1:id="rIdFont22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38e5343b-6dcd-45f6-9cd7-ec2e97718d68.fntdata" /><ns0:Relationship Id="rIdFont21" Type="http://schemas.openxmlformats.org/officeDocument/2006/relationships/font" Target="fonts/36855beb-cb2c-402f-a646-f9f769fde797.fntdata" /><ns0:Relationship Id="rIdFont22" Type="http://schemas.openxmlformats.org/officeDocument/2006/relationships/font" Target="fonts/f8b6698f-c6d4-4930-a08c-7463a1f8d8e3.fntdata" /><ns0:Relationship Id="rIdFont23" Type="http://schemas.openxmlformats.org/officeDocument/2006/relationships/font" Target="fonts/585b9acd-2505-4d8d-81fd-bcc34ba86d79.fntdata" /><ns0:Relationship Id="rIdFont24" Type="http://schemas.openxmlformats.org/officeDocument/2006/relationships/font" Target="fonts/bf354354-5f10-4ec1-a6ef-e98cb57a320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724400"/>
            <a:ext cx="609600" cy="28575"/>
          </a:xfrm>
          <a:prstGeom prst="rect">
            <a:avLst/>
          </a:prstGeom>
          <a:solidFill>
            <a:srgbClr val="B85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05025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B85D3B"/>
                </a:solidFill>
                <a:latin typeface="JetBrains Mono"/>
              </a:rPr>
              <a:t>35°00′N 33°00′E • EASTERN MEDITERRANEAN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86025"/>
            <a:ext cx="11251406" cy="828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5700" i="0" u="none">
                <a:solidFill>
                  <a:srgbClr val="F9F8F5"/>
                </a:solidFill>
                <a:latin typeface="Instrument Serif"/>
              </a:rPr>
              <a:t>Cyprus: The Copper Island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433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A8A29E"/>
                </a:solidFill>
                <a:latin typeface="Plus Jakarta Sans"/>
              </a:rPr>
              <a:t>Physical geography, relief architecture, premier coastal destinations, and 11,000 years of civilization synthesized from five geographic resources.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962150"/>
            <a:ext cx="10820400" cy="281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72025"/>
            <a:ext cx="10820400" cy="9525"/>
          </a:xfrm>
          <a:prstGeom prst="rect">
            <a:avLst/>
          </a:prstGeom>
          <a:solidFill>
            <a:srgbClr val="D6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962150"/>
            <a:ext cx="10820400" cy="9525"/>
          </a:xfrm>
          <a:prstGeom prst="rect">
            <a:avLst/>
          </a:prstGeom>
          <a:solidFill>
            <a:srgbClr val="D6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01 / GEOGRAPHIC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211"/>
                </a:solidFill>
                <a:latin typeface="Plus Jakarta Sans"/>
              </a:rPr>
              <a:t>Cyprus in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314950"/>
            <a:ext cx="9429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4403C"/>
                </a:solidFill>
                <a:latin typeface="Plus Jakarta Sans"/>
              </a:rPr>
              <a:t>Etymology of Copper (aes Cyprium → Cuprum):</a:t>
            </a:r>
            <a:r>
              <a:rPr b="0" sz="1500" i="0" u="none">
                <a:solidFill>
                  <a:srgbClr val="44403C"/>
                </a:solidFill>
                <a:latin typeface="Plus Jakarta Sans"/>
              </a:rPr>
              <a:t> Attested in 15th-century BC Linear B script as </a:t>
            </a:r>
            <a:r>
              <a:rPr b="0" sz="1500" i="1" u="none">
                <a:solidFill>
                  <a:srgbClr val="44403C"/>
                </a:solidFill>
                <a:latin typeface="Plus Jakarta Sans"/>
              </a:rPr>
              <a:t>ku-pi-ri-jo</a:t>
            </a:r>
            <a:r>
              <a:rPr b="0" sz="1500" i="0" u="none">
                <a:solidFill>
                  <a:srgbClr val="44403C"/>
                </a:solidFill>
                <a:latin typeface="Plus Jakarta Sans"/>
              </a:rPr>
              <a:t> from ancient Troodos copper ore deposits.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90775"/>
            <a:ext cx="2571750" cy="140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111211"/>
                </a:solidFill>
                <a:latin typeface="JetBrains Mono"/>
              </a:rPr>
              <a:t>9,251 km²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14775"/>
            <a:ext cx="2571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Third-largest Mediterranean island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7100" y="2390775"/>
            <a:ext cx="3095625" cy="704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B85D3B"/>
                </a:solidFill>
                <a:latin typeface="JetBrains Mono"/>
              </a:rPr>
              <a:t>1,952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7100" y="3209925"/>
            <a:ext cx="2571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Mount Olympus peak elevation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390775"/>
            <a:ext cx="3095625" cy="704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111211"/>
                </a:solidFill>
                <a:latin typeface="JetBrains Mono"/>
              </a:rPr>
              <a:t>648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3209925"/>
            <a:ext cx="2571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Mediterranean coastline 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9700" y="2390775"/>
            <a:ext cx="3095625" cy="704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2B4757"/>
                </a:solidFill>
                <a:latin typeface="JetBrains Mono"/>
              </a:rPr>
              <a:t>107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9700" y="3209925"/>
            <a:ext cx="309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Water dams across Cyprus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095500"/>
            <a:ext cx="5888235" cy="3609975"/>
          </a:xfrm>
          <a:prstGeom prst="roundRect">
            <a:avLst>
              <a:gd name="adj" fmla="val 4221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0600" y="5067300"/>
            <a:ext cx="5278635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600" y="5067300"/>
            <a:ext cx="5278635" cy="9525"/>
          </a:xfrm>
          <a:prstGeom prst="rect">
            <a:avLst/>
          </a:prstGeom>
          <a:solidFill>
            <a:srgbClr val="D6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400300"/>
            <a:ext cx="5278635" cy="2667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02 / CARTOGRAPHY &amp; GEOPOLITICS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211"/>
                </a:solidFill>
                <a:latin typeface="Plus Jakarta Sans"/>
              </a:rPr>
              <a:t>Tri-Continental Crossroads &amp; Administrative Zones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5229225"/>
            <a:ext cx="1619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534E"/>
                </a:solidFill>
                <a:latin typeface="JetBrains Mono"/>
              </a:rPr>
              <a:t>70 km S of Turkey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2217" y="5229225"/>
            <a:ext cx="1619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534E"/>
                </a:solidFill>
                <a:latin typeface="JetBrains Mono"/>
              </a:rPr>
              <a:t>100 km W of Syria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3835" y="5229225"/>
            <a:ext cx="1619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534E"/>
                </a:solidFill>
                <a:latin typeface="JetBrains Mono"/>
              </a:rPr>
              <a:t>500 km N of Egypt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7435" y="2605087"/>
            <a:ext cx="4494014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85D3B"/>
                </a:solidFill>
                <a:latin typeface="Plus Jakarta Sans"/>
              </a:rPr>
              <a:t>Republic of Cyprus (59%):</a:t>
            </a:r>
            <a:r>
              <a:rPr b="0" sz="1500" i="0" u="none">
                <a:solidFill>
                  <a:srgbClr val="1C1917"/>
                </a:solidFill>
                <a:latin typeface="Plus Jakarta Sans"/>
              </a:rPr>
              <a:t> Southern EU member state since May 2004.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7435" y="3309937"/>
            <a:ext cx="4494014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B4757"/>
                </a:solidFill>
                <a:latin typeface="Plus Jakarta Sans"/>
              </a:rPr>
              <a:t>Northern Sector (36%):</a:t>
            </a:r>
            <a:r>
              <a:rPr b="0" sz="1500" i="0" u="none">
                <a:solidFill>
                  <a:srgbClr val="1C1917"/>
                </a:solidFill>
                <a:latin typeface="Plus Jakarta Sans"/>
              </a:rPr>
              <a:t> Covers 3,355 km² following 1974 division.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7435" y="4014787"/>
            <a:ext cx="4494014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526658"/>
                </a:solidFill>
                <a:latin typeface="Plus Jakarta Sans"/>
              </a:rPr>
              <a:t>UN Buffer Zone:</a:t>
            </a:r>
            <a:r>
              <a:rPr b="0" sz="1500" i="0" u="none">
                <a:solidFill>
                  <a:srgbClr val="1C1917"/>
                </a:solidFill>
                <a:latin typeface="Plus Jakarta Sans"/>
              </a:rPr>
              <a:t> Neutral Green Line crossing capital Nicosia.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7435" y="4719637"/>
            <a:ext cx="4494014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4403C"/>
                </a:solidFill>
                <a:latin typeface="Plus Jakarta Sans"/>
              </a:rPr>
              <a:t>UK Sovereign Bases (5%):</a:t>
            </a:r>
            <a:r>
              <a:rPr b="0" sz="1500" i="0" u="none">
                <a:solidFill>
                  <a:srgbClr val="1C1917"/>
                </a:solidFill>
                <a:latin typeface="Plus Jakarta Sans"/>
              </a:rPr>
              <a:t> Akrotiri (47.4 km border) and Dhekelia enclaves.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03 / PHYSICAL GEOGRAPHY &amp; RELIEF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211"/>
                </a:solidFill>
                <a:latin typeface="Plus Jakarta Sans"/>
              </a:rPr>
              <a:t>North–South Elevation Cross-Section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5800" y="1790700"/>
          <a:ext cx="10820399" cy="34766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43955"/>
                <a:gridCol w="2765524"/>
                <a:gridCol w="3033266"/>
                <a:gridCol w="3377654"/>
              </a:tblGrid>
              <a:tr h="496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1211"/>
                          </a:solidFill>
                          <a:latin typeface="Plus Jakarta Sans"/>
                        </a:rPr>
                        <a:t>District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1211"/>
                          </a:solidFill>
                          <a:latin typeface="Plus Jakarta Sans"/>
                        </a:rPr>
                        <a:t>Geographic Position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1211"/>
                          </a:solidFill>
                          <a:latin typeface="Plus Jakarta Sans"/>
                        </a:rPr>
                        <a:t>Key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1211"/>
                          </a:solidFill>
                          <a:latin typeface="Plus Jakarta Sans"/>
                        </a:rPr>
                        <a:t>Signature Landmark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6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85D3B"/>
                          </a:solidFill>
                          <a:latin typeface="Plus Jakarta Sans"/>
                        </a:rPr>
                        <a:t>Nicosia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Central Mesaoria Plain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Divided National Capital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Venetian Walls &amp; Pedieos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6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85D3B"/>
                          </a:solidFill>
                          <a:latin typeface="Plus Jakarta Sans"/>
                        </a:rPr>
                        <a:t>Limassol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Southern Coast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Largest Maritime 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Molos Palm Promenade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6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85D3B"/>
                          </a:solidFill>
                          <a:latin typeface="Plus Jakarta Sans"/>
                        </a:rPr>
                        <a:t>Larnaca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Southeastern Coast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Primary Airport Gateway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Flamingo Salt Lake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6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85D3B"/>
                          </a:solidFill>
                          <a:latin typeface="Plus Jakarta Sans"/>
                        </a:rPr>
                        <a:t>Paphos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Southwestern Coast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UNESCO Cultural Hub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Petra tou Romiou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6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85D3B"/>
                          </a:solidFill>
                          <a:latin typeface="Plus Jakarta Sans"/>
                        </a:rPr>
                        <a:t>Famagusta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Eastern Coast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Premier Beach Resorts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Ayia Napa &amp; Salamis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66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85D3B"/>
                          </a:solidFill>
                          <a:latin typeface="Plus Jakarta Sans"/>
                        </a:rPr>
                        <a:t>Kyrenia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Northern Coast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Historic Northern Harbor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Pentadaktylos &amp; Shipwreck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04 / SUBDIVISIONS &amp; WATER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211"/>
                </a:solidFill>
                <a:latin typeface="Plus Jakarta Sans"/>
              </a:rPr>
              <a:t>The 6 Administrative Districts &amp; Hydrography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34025"/>
            <a:ext cx="10915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57534E"/>
                </a:solidFill>
                <a:latin typeface="Plus Jakarta Sans"/>
              </a:rPr>
              <a:t>Hydrography Note:</a:t>
            </a:r>
            <a:r>
              <a:rPr b="0" sz="1350" i="0" u="none">
                <a:solidFill>
                  <a:srgbClr val="57534E"/>
                </a:solidFill>
                <a:latin typeface="Plus Jakarta Sans"/>
              </a:rPr>
              <a:t> Pedieos (98 km) and Yialias (~100 km) are the only regular winter rivers; 107 dams and desalination plants combat chronic drought.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867275"/>
            <a:ext cx="533400" cy="28575"/>
          </a:xfrm>
          <a:prstGeom prst="rect">
            <a:avLst/>
          </a:prstGeom>
          <a:solidFill>
            <a:srgbClr val="111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6215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B85D3B"/>
                </a:solidFill>
                <a:latin typeface="JetBrains Mono"/>
              </a:rPr>
              <a:t>SECTION 02 • CESTEE &amp; DERTOUR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05050"/>
            <a:ext cx="8301037" cy="2257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5100" i="0" u="none">
                <a:solidFill>
                  <a:srgbClr val="111211"/>
                </a:solidFill>
                <a:latin typeface="Instrument Serif"/>
              </a:rPr>
              <a:t>Tourism Destinations, Coastal Resorts &amp; Major Cities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05137"/>
            <a:ext cx="2533650" cy="17526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48050" y="3005137"/>
            <a:ext cx="2533650" cy="17526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05137"/>
            <a:ext cx="2533650" cy="17526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72550" y="3005137"/>
            <a:ext cx="2533650" cy="17526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05 / URBAN CENTERS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211"/>
                </a:solidFill>
                <a:latin typeface="Plus Jakarta Sans"/>
              </a:rPr>
              <a:t>Four Principal Cities of Cyprus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319462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01 /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05212"/>
            <a:ext cx="27003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11211"/>
                </a:solidFill>
                <a:latin typeface="Plus Jakarta Sans"/>
              </a:rPr>
              <a:t>Nicosia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05262"/>
            <a:ext cx="2152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Inland divided financial capital.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6175" y="3319462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02 / MARITIME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175" y="3605212"/>
            <a:ext cx="27003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11211"/>
                </a:solidFill>
                <a:latin typeface="Plus Jakarta Sans"/>
              </a:rPr>
              <a:t>Limassol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175" y="4005262"/>
            <a:ext cx="2152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Largest port hosting February Carnival.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319462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03 / AIR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605212"/>
            <a:ext cx="27003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11211"/>
                </a:solidFill>
                <a:latin typeface="Plus Jakarta Sans"/>
              </a:rPr>
              <a:t>Larnaca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4005262"/>
            <a:ext cx="2152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Main airport near flamingo lake.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0675" y="3319462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04 / UNESCO 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675" y="3605212"/>
            <a:ext cx="27003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11211"/>
                </a:solidFill>
                <a:latin typeface="Plus Jakarta Sans"/>
              </a:rPr>
              <a:t>Paphos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4005262"/>
            <a:ext cx="2152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Ancient Greco-Roman mosaic park.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14487"/>
            <a:ext cx="6045249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14487"/>
            <a:ext cx="604524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06 / COASTLINE &amp; NATIONAL PARKS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211"/>
                </a:solidFill>
                <a:latin typeface="Plus Jakarta Sans"/>
              </a:rPr>
              <a:t>Petra tou Romiou, Eastern Resorts &amp; Wilderness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88249" y="2528887"/>
            <a:ext cx="50037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Petra tou Romiou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49" y="2852737"/>
            <a:ext cx="4413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Legendary sea-foam birthplace of Greek goddess Aphrodite near Paphos.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8249" y="3519487"/>
            <a:ext cx="50037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Ayia Napa &amp; Protaras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8249" y="3843337"/>
            <a:ext cx="4413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Eastern turquoise beach resorts with golden sand and sea caves.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8249" y="4510087"/>
            <a:ext cx="50037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Akamas National 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8249" y="4833937"/>
            <a:ext cx="4413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Western peninsula featuring dramatic limestone cliffs and hiking trails.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71812"/>
            <a:ext cx="2533650" cy="161925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48050" y="3071812"/>
            <a:ext cx="2533650" cy="161925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71812"/>
            <a:ext cx="2533650" cy="161925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72550" y="3071812"/>
            <a:ext cx="2533650" cy="161925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07 / ARCHAEOLOGICAL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211"/>
                </a:solidFill>
                <a:latin typeface="Plus Jakarta Sans"/>
              </a:rPr>
              <a:t>11,000 Years of Iconic Landmarks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348037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B85D3B"/>
                </a:solidFill>
                <a:latin typeface="JetBrains Mono"/>
              </a:rPr>
              <a:t>10,000 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33787"/>
            <a:ext cx="27003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Aetokremnos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976687"/>
            <a:ext cx="2152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Pygmy hippo extinction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6175" y="3348037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B85D3B"/>
                </a:solidFill>
                <a:latin typeface="JetBrains Mono"/>
              </a:rPr>
              <a:t>6800 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175" y="3633787"/>
            <a:ext cx="27003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Khirokitia UNESCO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175" y="3976687"/>
            <a:ext cx="2152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Neolithic round-house village.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348037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B85D3B"/>
                </a:solidFill>
                <a:latin typeface="JetBrains Mono"/>
              </a:rPr>
              <a:t>1725 BC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633787"/>
            <a:ext cx="27003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Alashiya &amp; Nitovikla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976687"/>
            <a:ext cx="2152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Bronze Age copper trade fortress.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0675" y="3348037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B85D3B"/>
                </a:solidFill>
                <a:latin typeface="JetBrains Mono"/>
              </a:rPr>
              <a:t>45 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675" y="3633787"/>
            <a:ext cx="27003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Church of Cyprus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3976687"/>
            <a:ext cx="2152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Apostolic church founded by Paul.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76562"/>
            <a:ext cx="2533650" cy="1809750"/>
          </a:xfrm>
          <a:prstGeom prst="roundRect">
            <a:avLst>
              <a:gd name="adj" fmla="val 8421"/>
            </a:avLst>
          </a:prstGeom>
          <a:solidFill>
            <a:srgbClr val="F9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48050" y="2843212"/>
            <a:ext cx="2533650" cy="2076450"/>
          </a:xfrm>
          <a:prstGeom prst="roundRect">
            <a:avLst>
              <a:gd name="adj" fmla="val 7339"/>
            </a:avLst>
          </a:prstGeom>
          <a:solidFill>
            <a:srgbClr val="F9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86100"/>
            <a:ext cx="2533650" cy="1590675"/>
          </a:xfrm>
          <a:prstGeom prst="roundRect">
            <a:avLst>
              <a:gd name="adj" fmla="val 9580"/>
            </a:avLst>
          </a:prstGeom>
          <a:solidFill>
            <a:srgbClr val="F9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72550" y="2976562"/>
            <a:ext cx="2533650" cy="1809750"/>
          </a:xfrm>
          <a:prstGeom prst="roundRect">
            <a:avLst>
              <a:gd name="adj" fmla="val 8421"/>
            </a:avLst>
          </a:prstGeom>
          <a:solidFill>
            <a:srgbClr val="F9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8136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3148012"/>
            <a:ext cx="3048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150" y="3281362"/>
            <a:ext cx="3333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08 / NUMISMATICS &amp;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211"/>
                </a:solidFill>
                <a:latin typeface="Plus Jakarta Sans"/>
              </a:rPr>
              <a:t>Euro Coin Symbols &amp; Religious Heritage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0462"/>
            <a:ext cx="272534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1c–5c: Mouflon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3362"/>
            <a:ext cx="21717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Endangered wild Troodos sheep.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650" y="3567112"/>
            <a:ext cx="228028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10c–50c: Kyrenia 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4176712"/>
            <a:ext cx="21717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Ancient Greek merchant vessel.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590925"/>
            <a:ext cx="272534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€1 &amp; €2: Pomos Idol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933825"/>
            <a:ext cx="21717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Chalcolithic fertility cross statue.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1150" y="3700462"/>
            <a:ext cx="272534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5 Metropolises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1150" y="4043362"/>
            <a:ext cx="21717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Orthodox South; secular Muslim North.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381250"/>
            <a:ext cx="5311378" cy="3000375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85D3B"/>
                </a:solidFill>
                <a:latin typeface="JetBrains Mono"/>
              </a:rPr>
              <a:t>09 / ECONOMY, CLIMATE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211"/>
                </a:solidFill>
                <a:latin typeface="Plus Jakarta Sans"/>
              </a:rPr>
              <a:t>Service Economy, Maritime Fleet &amp;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" y="2809875"/>
            <a:ext cx="5567660" cy="1209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200" i="0" u="none">
                <a:solidFill>
                  <a:srgbClr val="B85D3B"/>
                </a:solidFill>
                <a:latin typeface="JetBrains Mono"/>
              </a:rPr>
              <a:t>75.6%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" y="4171950"/>
            <a:ext cx="556766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211"/>
                </a:solidFill>
                <a:latin typeface="Plus Jakarta Sans"/>
              </a:rPr>
              <a:t>Services Share of GDP (HDI 0.913)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4514850"/>
            <a:ext cx="454937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Joined Eurozone on January 1, 2008 alongside expanding offshore natural gas reserves.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6778" y="2586037"/>
            <a:ext cx="4994671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211"/>
                </a:solidFill>
                <a:latin typeface="Plus Jakarta Sans"/>
              </a:rPr>
              <a:t>Maritime Fleet:</a:t>
            </a:r>
            <a:r>
              <a:rPr b="0" sz="1500" i="0" u="none">
                <a:solidFill>
                  <a:srgbClr val="1C1917"/>
                </a:solidFill>
                <a:latin typeface="Plus Jakarta Sans"/>
              </a:rPr>
              <a:t> 1,414 commercial vessels across six 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6778" y="3290887"/>
            <a:ext cx="4994671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211"/>
                </a:solidFill>
                <a:latin typeface="Plus Jakarta Sans"/>
              </a:rPr>
              <a:t>Road Network:</a:t>
            </a:r>
            <a:r>
              <a:rPr b="0" sz="1500" i="0" u="none">
                <a:solidFill>
                  <a:srgbClr val="1C1917"/>
                </a:solidFill>
                <a:latin typeface="Plus Jakarta Sans"/>
              </a:rPr>
              <a:t> 19,525 km left-hand traffic; zero active railways.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6778" y="3995737"/>
            <a:ext cx="4994671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211"/>
                </a:solidFill>
                <a:latin typeface="Plus Jakarta Sans"/>
              </a:rPr>
              <a:t>Seasonal Contrasts:</a:t>
            </a:r>
            <a:r>
              <a:rPr b="0" sz="1500" i="0" u="none">
                <a:solidFill>
                  <a:srgbClr val="1C1917"/>
                </a:solidFill>
                <a:latin typeface="Plus Jakarta Sans"/>
              </a:rPr>
              <a:t> 2°C winter Troodos snow; 34°C dry summers.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6778" y="4700587"/>
            <a:ext cx="4994671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211"/>
                </a:solidFill>
                <a:latin typeface="Plus Jakarta Sans"/>
              </a:rPr>
              <a:t>Natural Resources:</a:t>
            </a:r>
            <a:r>
              <a:rPr b="0" sz="1500" i="0" u="none">
                <a:solidFill>
                  <a:srgbClr val="1C1917"/>
                </a:solidFill>
                <a:latin typeface="Plus Jakarta Sans"/>
              </a:rPr>
              <a:t> Copper, pyrite, marble, gypsum, olives, citrus.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29300" y="4457700"/>
            <a:ext cx="533400" cy="28575"/>
          </a:xfrm>
          <a:prstGeom prst="rect">
            <a:avLst/>
          </a:prstGeom>
          <a:solidFill>
            <a:srgbClr val="B85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67250" y="2371725"/>
            <a:ext cx="2857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B85D3B"/>
                </a:solidFill>
                <a:latin typeface="JetBrains Mono"/>
              </a:rPr>
              <a:t>KÝPROS • 35°00′N 33°00′E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6720" y="2695575"/>
            <a:ext cx="8218409" cy="7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100" i="0" u="none">
                <a:solidFill>
                  <a:srgbClr val="F9F8F5"/>
                </a:solidFill>
                <a:latin typeface="Instrument Serif"/>
              </a:rPr>
              <a:t>Thank You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638550"/>
            <a:ext cx="8096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A8A29E"/>
                </a:solidFill>
                <a:latin typeface="Plus Jakarta Sans"/>
              </a:rPr>
              <a:t>Synthesized from Wikipedia RO (Geografia Ciprului &amp; Cipru), Cestee.ro, GlobalInfo.ro, and DERTOUR.ro.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5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https://www.leonardo-hotels-cyprus.com/images/photos/photoGalleries/cityGuides/paphos/beaches/petraTouRomiou/petraTouRomiou_04.jpg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3905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www.leonardo-hotels-cyprus.com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